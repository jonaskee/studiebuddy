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1" r:id="rId5"/>
    <p:sldId id="259" r:id="rId6"/>
    <p:sldId id="262" r:id="rId7"/>
    <p:sldId id="263" r:id="rId8"/>
    <p:sldId id="264"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3461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Wij kozen optie B: zelf een prototype bouwen. Vandaag tonen we eerst wat we gemaakt hebben, dan hoe het werkt, en tot slot hoe MCP het systeem zou uitbreiden.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StudieBuddy is een simpele proof of concept. Het idee: een algemeen taalmodel weet niets over mijn opleiding. Door zelf context toe te voegen (de ECTS-fiches en een geheugen) kan het wel concrete vragen over mijn vakken beantwoorden.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context komt samen in één system prompt die bij elke vraag opnieuw gebouwd wordt. Zo ziet het model altijd de actuele tijd, wie ik ben en de fiche van het vak waarover ik vraag. Met het commando /toon kan je die prompt live bekijken.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Meer context is niet altijd beter. We liepen tegen de limiet van 8000 tokens per minuut aan. Daarom sturen we altijd een kort overzicht van alle vakken mee, maar de volledige fiche enkel voor het vak waarover gevraagd wordt. Dat is in feite handmatige context-selectie, precies wat MCP later automatisch zou doen.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vraag doorloopt dezelfde lus. Eerst kijken we welke vakken genoemd worden, dan bouwen we de prompt, en dan gaat alles samen met de chat van deze sessie naar Groq. Bij het afsluiten wordt het geheugen bewaard, zodat StudieBuddy me de volgende keer terug herkent.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doen we de live demo. We stellen dezelfde vraag eerst met context uit en dan met context aan. Met /toon laten we de volledige system prompt zien die naar het model gaat. Het verschil in antwoord komt volledig uit de context, het model blijft hetzelfde.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Grens van ons prototype: een vraag als "welk vak heb ik vandaag?" lukt niet, want het rooster zit nergens in de context, alles komt uit statische bestanden en we sturen veel tekst mee. WebUntis is de app waarin ik mijn lessenrooster zie. Een MCP-server ervoor zou het rooster live aan StudieBuddy geven via drie tools. Vragen als "welk vak heb ik vandaag?" of "moet ik morgen naar school?" worden dan wel beantwoord. En omdat de server zelf het rooster kan opvolgen, kan StudieBuddy me waarschuwen zonder dat ik iets vraag. Dit is een theoretisch voorstel, nog niet gebouwd.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concrete winsten. De context is altijd actueel, we besparen tokens omdat het model zelf kiest wat het ophaalt, tijd en locatie worden echt, en nieuwe bronnen toevoegen vraagt geen aanpassing aan StudieBuddy zelf.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 bestanden en een JSON-geheugen beantwoordt StudieBuddy vragen over de inhoud van mijn vakken. Met een WebUntis-MCP weet het ook wanneer ik ze heb en kan het me waarschuwen. Context is king: hoe beter en actueler de context, hoe nuttiger de assistent.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520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520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520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520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a:effectLst/>
      </p:bgPr>
    </p:bg>
    <p:spTree>
      <p:nvGrpSpPr>
        <p:cNvPr id="1" name=""/>
        <p:cNvGrpSpPr/>
        <p:nvPr/>
      </p:nvGrpSpPr>
      <p:grpSpPr>
        <a:xfrm>
          <a:off x="0" y="0"/>
          <a:ext cx="0" cy="0"/>
          <a:chOff x="0" y="0"/>
          <a:chExt cx="0" cy="0"/>
        </a:xfrm>
      </p:grpSpPr>
      <p:sp>
        <p:nvSpPr>
          <p:cNvPr id="2" name="Shape 0"/>
          <p:cNvSpPr/>
          <p:nvPr/>
        </p:nvSpPr>
        <p:spPr>
          <a:xfrm>
            <a:off x="8636000" y="0"/>
            <a:ext cx="3556000" cy="6858000"/>
          </a:xfrm>
          <a:prstGeom prst="rect">
            <a:avLst/>
          </a:prstGeom>
          <a:gradFill rotWithShape="1">
            <a:gsLst>
              <a:gs pos="0">
                <a:srgbClr val="1E2E3D"/>
              </a:gs>
              <a:gs pos="100000">
                <a:srgbClr val="15202B"/>
              </a:gs>
            </a:gsLst>
            <a:lin ang="4200000" scaled="0"/>
          </a:gradFill>
          <a:ln/>
        </p:spPr>
        <p:txBody>
          <a:bodyPr/>
          <a:lstStyle/>
          <a:p>
            <a:endParaRPr lang="nl-BE"/>
          </a:p>
        </p:txBody>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0A36B"/>
                </a:solidFill>
                <a:latin typeface="JetBrains Mono" pitchFamily="49" charset="0"/>
                <a:ea typeface="JetBrains Mono" pitchFamily="49" charset="-122"/>
                <a:cs typeface="JetBrains Mono" pitchFamily="49" charset="-120"/>
              </a:rPr>
              <a:t>TRENDS IN AI · H7 LAB · OPTIE B</a:t>
            </a:r>
            <a:endParaRPr lang="en-US" sz="1400" dirty="0"/>
          </a:p>
        </p:txBody>
      </p:sp>
      <p:sp>
        <p:nvSpPr>
          <p:cNvPr id="4" name="Text 2"/>
          <p:cNvSpPr>
            <a:spLocks noGrp="1"/>
          </p:cNvSpPr>
          <p:nvPr>
            <p:ph type="title"/>
          </p:nvPr>
        </p:nvSpPr>
        <p:spPr>
          <a:xfrm>
            <a:off x="812800" y="245618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i="0" kern="0" spc="-200" dirty="0">
                <a:solidFill>
                  <a:srgbClr val="F5F3EE"/>
                </a:solidFill>
                <a:latin typeface="Space Grotesk" pitchFamily="34" charset="0"/>
                <a:ea typeface="Space Grotesk" pitchFamily="34" charset="-122"/>
                <a:cs typeface="Space Grotesk" pitchFamily="34" charset="-120"/>
              </a:rPr>
              <a:t>StudieBuddy</a:t>
            </a:r>
            <a:endParaRPr lang="en-US" sz="8000" dirty="0"/>
          </a:p>
        </p:txBody>
      </p:sp>
      <p:sp>
        <p:nvSpPr>
          <p:cNvPr id="5" name="Text 3"/>
          <p:cNvSpPr/>
          <p:nvPr/>
        </p:nvSpPr>
        <p:spPr>
          <a:xfrm>
            <a:off x="812800" y="3675380"/>
            <a:ext cx="7194550"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2DB"/>
                </a:solidFill>
                <a:latin typeface="IBM Plex Sans" pitchFamily="34" charset="0"/>
                <a:ea typeface="IBM Plex Sans" pitchFamily="34" charset="-122"/>
                <a:cs typeface="IBM Plex Sans" pitchFamily="34" charset="-120"/>
              </a:rPr>
              <a:t>Een AI-studieassistent met een eigen contextgeheugen, en hoe MCP hem verder zou brengen</a:t>
            </a:r>
            <a:endParaRPr lang="en-US" sz="2200" dirty="0"/>
          </a:p>
        </p:txBody>
      </p:sp>
      <p:sp>
        <p:nvSpPr>
          <p:cNvPr id="6" name="Text 4"/>
          <p:cNvSpPr/>
          <p:nvPr/>
        </p:nvSpPr>
        <p:spPr>
          <a:xfrm>
            <a:off x="812800" y="57962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7B4"/>
                </a:solidFill>
                <a:latin typeface="IBM Plex Sans" pitchFamily="34" charset="0"/>
                <a:ea typeface="IBM Plex Sans" pitchFamily="34" charset="-122"/>
                <a:cs typeface="IBM Plex Sans" pitchFamily="34" charset="-120"/>
              </a:rPr>
              <a:t>Jonas Lemmens &amp; Kemal Yilmaz · 2026</a:t>
            </a:r>
            <a:endParaRPr lang="en-US" sz="1400" dirty="0"/>
          </a:p>
        </p:txBody>
      </p:sp>
      <p:sp>
        <p:nvSpPr>
          <p:cNvPr id="7" name="Text 5"/>
          <p:cNvSpPr/>
          <p:nvPr/>
        </p:nvSpPr>
        <p:spPr>
          <a:xfrm>
            <a:off x="8331200" y="2667000"/>
            <a:ext cx="31394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7B4"/>
                </a:solidFill>
                <a:latin typeface="JetBrains Mono" pitchFamily="49" charset="0"/>
                <a:ea typeface="JetBrains Mono" pitchFamily="49" charset="-122"/>
                <a:cs typeface="JetBrains Mono" pitchFamily="49" charset="-120"/>
              </a:rPr>
              <a:t>$ python app.py</a:t>
            </a:r>
            <a:endParaRPr lang="en-US" sz="1400" dirty="0"/>
          </a:p>
        </p:txBody>
      </p:sp>
      <p:sp>
        <p:nvSpPr>
          <p:cNvPr id="8" name="Text 6"/>
          <p:cNvSpPr/>
          <p:nvPr/>
        </p:nvSpPr>
        <p:spPr>
          <a:xfrm>
            <a:off x="8331200" y="3017520"/>
            <a:ext cx="31394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A36B"/>
                </a:solidFill>
                <a:latin typeface="JetBrains Mono" pitchFamily="49" charset="0"/>
                <a:ea typeface="JetBrains Mono" pitchFamily="49" charset="-122"/>
                <a:cs typeface="JetBrains Mono" pitchFamily="49" charset="-120"/>
              </a:rPr>
              <a:t>Jij: welke vakken heb ik?</a:t>
            </a:r>
            <a:endParaRPr lang="en-US" sz="1400" dirty="0"/>
          </a:p>
        </p:txBody>
      </p:sp>
      <p:sp>
        <p:nvSpPr>
          <p:cNvPr id="9" name="Text 7"/>
          <p:cNvSpPr/>
          <p:nvPr/>
        </p:nvSpPr>
        <p:spPr>
          <a:xfrm>
            <a:off x="8331200" y="3368040"/>
            <a:ext cx="31394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2DB"/>
                </a:solidFill>
                <a:latin typeface="JetBrains Mono" pitchFamily="49" charset="0"/>
                <a:ea typeface="JetBrains Mono" pitchFamily="49" charset="-122"/>
                <a:cs typeface="JetBrains Mono" pitchFamily="49" charset="-120"/>
              </a:rPr>
              <a:t>StudieBuddy: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501F"/>
                </a:solidFill>
                <a:latin typeface="JetBrains Mono" pitchFamily="49" charset="0"/>
                <a:ea typeface="JetBrains Mono" pitchFamily="49" charset="-122"/>
                <a:cs typeface="JetBrains Mono" pitchFamily="49" charset="-120"/>
              </a:rPr>
              <a:t>01 · WAT WE GEMAAKT HEBBEN</a:t>
            </a:r>
            <a:endParaRPr lang="en-US" sz="1200" dirty="0"/>
          </a:p>
        </p:txBody>
      </p:sp>
      <p:sp>
        <p:nvSpPr>
          <p:cNvPr id="3" name="Text 1"/>
          <p:cNvSpPr>
            <a:spLocks noGrp="1"/>
          </p:cNvSpPr>
          <p:nvPr>
            <p:ph type="title"/>
          </p:nvPr>
        </p:nvSpPr>
        <p:spPr>
          <a:xfrm>
            <a:off x="812800" y="11277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5202B"/>
                </a:solidFill>
                <a:latin typeface="Space Grotesk" pitchFamily="34" charset="0"/>
                <a:ea typeface="Space Grotesk" pitchFamily="34" charset="-122"/>
                <a:cs typeface="Space Grotesk" pitchFamily="34" charset="-120"/>
              </a:rPr>
              <a:t>Een chatbot die mijn eigen vakken kent</a:t>
            </a:r>
            <a:endParaRPr lang="en-US" sz="3600" dirty="0"/>
          </a:p>
        </p:txBody>
      </p:sp>
      <p:sp>
        <p:nvSpPr>
          <p:cNvPr id="4" name="Text 2"/>
          <p:cNvSpPr/>
          <p:nvPr/>
        </p:nvSpPr>
        <p:spPr>
          <a:xfrm>
            <a:off x="812800" y="1986280"/>
            <a:ext cx="549402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2B3644"/>
                </a:solidFill>
                <a:latin typeface="IBM Plex Sans" pitchFamily="34" charset="0"/>
                <a:ea typeface="IBM Plex Sans" pitchFamily="34" charset="-122"/>
                <a:cs typeface="IBM Plex Sans" pitchFamily="34" charset="-120"/>
              </a:rPr>
              <a:t>StudieBuddy is </a:t>
            </a:r>
            <a:r>
              <a:rPr lang="en-US" sz="1800" dirty="0" err="1">
                <a:solidFill>
                  <a:srgbClr val="2B3644"/>
                </a:solidFill>
                <a:latin typeface="IBM Plex Sans" pitchFamily="34" charset="0"/>
                <a:ea typeface="IBM Plex Sans" pitchFamily="34" charset="-122"/>
                <a:cs typeface="IBM Plex Sans" pitchFamily="34" charset="-120"/>
              </a:rPr>
              <a:t>een</a:t>
            </a:r>
            <a:r>
              <a:rPr lang="en-US" sz="1800" dirty="0">
                <a:solidFill>
                  <a:srgbClr val="2B3644"/>
                </a:solidFill>
                <a:latin typeface="IBM Plex Sans" pitchFamily="34" charset="0"/>
                <a:ea typeface="IBM Plex Sans" pitchFamily="34" charset="-122"/>
                <a:cs typeface="IBM Plex Sans" pitchFamily="34" charset="-120"/>
              </a:rPr>
              <a:t> </a:t>
            </a:r>
            <a:r>
              <a:rPr lang="en-US" sz="1800" dirty="0" err="1">
                <a:solidFill>
                  <a:srgbClr val="2B3644"/>
                </a:solidFill>
                <a:latin typeface="IBM Plex Sans" pitchFamily="34" charset="0"/>
                <a:ea typeface="IBM Plex Sans" pitchFamily="34" charset="-122"/>
                <a:cs typeface="IBM Plex Sans" pitchFamily="34" charset="-120"/>
              </a:rPr>
              <a:t>assistent</a:t>
            </a:r>
            <a:r>
              <a:rPr lang="en-US" sz="1800" dirty="0">
                <a:solidFill>
                  <a:srgbClr val="2B3644"/>
                </a:solidFill>
                <a:latin typeface="IBM Plex Sans" pitchFamily="34" charset="0"/>
                <a:ea typeface="IBM Plex Sans" pitchFamily="34" charset="-122"/>
                <a:cs typeface="IBM Plex Sans" pitchFamily="34" charset="-120"/>
              </a:rPr>
              <a:t> </a:t>
            </a:r>
            <a:r>
              <a:rPr lang="en-US" sz="1800" dirty="0" err="1">
                <a:solidFill>
                  <a:srgbClr val="2B3644"/>
                </a:solidFill>
                <a:latin typeface="IBM Plex Sans" pitchFamily="34" charset="0"/>
                <a:ea typeface="IBM Plex Sans" pitchFamily="34" charset="-122"/>
                <a:cs typeface="IBM Plex Sans" pitchFamily="34" charset="-120"/>
              </a:rPr>
              <a:t>voor</a:t>
            </a:r>
            <a:r>
              <a:rPr lang="en-US" sz="1800" dirty="0">
                <a:solidFill>
                  <a:srgbClr val="2B3644"/>
                </a:solidFill>
                <a:latin typeface="IBM Plex Sans" pitchFamily="34" charset="0"/>
                <a:ea typeface="IBM Plex Sans" pitchFamily="34" charset="-122"/>
                <a:cs typeface="IBM Plex Sans" pitchFamily="34" charset="-120"/>
              </a:rPr>
              <a:t> </a:t>
            </a:r>
            <a:r>
              <a:rPr lang="en-US" dirty="0" err="1">
                <a:solidFill>
                  <a:srgbClr val="2B3644"/>
                </a:solidFill>
                <a:latin typeface="IBM Plex Sans" pitchFamily="34" charset="0"/>
                <a:ea typeface="IBM Plex Sans" pitchFamily="34" charset="-122"/>
                <a:cs typeface="IBM Plex Sans" pitchFamily="34" charset="-120"/>
              </a:rPr>
              <a:t>studenten</a:t>
            </a:r>
            <a:endParaRPr lang="en-US" sz="1800" dirty="0"/>
          </a:p>
        </p:txBody>
      </p:sp>
      <p:sp>
        <p:nvSpPr>
          <p:cNvPr id="5" name="Text 3"/>
          <p:cNvSpPr/>
          <p:nvPr/>
        </p:nvSpPr>
        <p:spPr>
          <a:xfrm>
            <a:off x="812800" y="2561875"/>
            <a:ext cx="5494020" cy="909320"/>
          </a:xfrm>
          <a:prstGeom prst="rect">
            <a:avLst/>
          </a:prstGeom>
          <a:noFill/>
          <a:ln/>
        </p:spPr>
        <p:txBody>
          <a:bodyPr wrap="square" lIns="0" tIns="0" rIns="0" bIns="0" rtlCol="0" anchor="t">
            <a:normAutofit/>
          </a:bodyPr>
          <a:lstStyle/>
          <a:p>
            <a:r>
              <a:rPr lang="nl-BE" sz="1600" dirty="0"/>
              <a:t>Simpele chatbot  AI-toepassing</a:t>
            </a:r>
            <a:endParaRPr lang="en-US" sz="1600" dirty="0"/>
          </a:p>
        </p:txBody>
      </p:sp>
      <p:sp>
        <p:nvSpPr>
          <p:cNvPr id="6" name="Text 4"/>
          <p:cNvSpPr/>
          <p:nvPr/>
        </p:nvSpPr>
        <p:spPr>
          <a:xfrm>
            <a:off x="812800" y="2981960"/>
            <a:ext cx="5494020" cy="553720"/>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2E6DA4"/>
                </a:solidFill>
                <a:latin typeface="JetBrains Mono" pitchFamily="49" charset="0"/>
                <a:ea typeface="JetBrains Mono" pitchFamily="49" charset="-122"/>
                <a:cs typeface="JetBrains Mono" pitchFamily="49" charset="-120"/>
              </a:rPr>
              <a:t>"wie is mijn docent trends ai"</a:t>
            </a:r>
            <a:endParaRPr lang="en-US" sz="1300" dirty="0"/>
          </a:p>
          <a:p>
            <a:pPr marL="0" indent="0" algn="l">
              <a:lnSpc>
                <a:spcPts val="2080"/>
              </a:lnSpc>
              <a:buNone/>
            </a:pPr>
            <a:r>
              <a:rPr lang="en-US" sz="1300" dirty="0">
                <a:solidFill>
                  <a:srgbClr val="2E6DA4"/>
                </a:solidFill>
                <a:latin typeface="JetBrains Mono" pitchFamily="49" charset="0"/>
                <a:ea typeface="JetBrains Mono" pitchFamily="49" charset="-122"/>
                <a:cs typeface="JetBrains Mono" pitchFamily="49" charset="-120"/>
              </a:rPr>
              <a:t>"is er een tweede examenkans voor project start up?"</a:t>
            </a:r>
            <a:endParaRPr lang="en-US" sz="1300" dirty="0"/>
          </a:p>
        </p:txBody>
      </p:sp>
      <p:sp>
        <p:nvSpPr>
          <p:cNvPr id="7" name="Shape 5"/>
          <p:cNvSpPr/>
          <p:nvPr/>
        </p:nvSpPr>
        <p:spPr>
          <a:xfrm>
            <a:off x="6556375" y="1989455"/>
            <a:ext cx="2330450" cy="1845310"/>
          </a:xfrm>
          <a:prstGeom prst="roundRect">
            <a:avLst>
              <a:gd name="adj" fmla="val 5334"/>
            </a:avLst>
          </a:prstGeom>
          <a:solidFill>
            <a:srgbClr val="FFFFFF"/>
          </a:solidFill>
          <a:ln w="6350">
            <a:solidFill>
              <a:srgbClr val="E2DED4"/>
            </a:solidFill>
            <a:prstDash val="solid"/>
          </a:ln>
        </p:spPr>
        <p:txBody>
          <a:bodyPr/>
          <a:lstStyle/>
          <a:p>
            <a:endParaRPr lang="nl-BE"/>
          </a:p>
        </p:txBody>
      </p:sp>
      <p:pic>
        <p:nvPicPr>
          <p:cNvPr id="8" name="Image 0" descr="Code"/>
          <p:cNvPicPr>
            <a:picLocks noChangeAspect="1"/>
          </p:cNvPicPr>
          <p:nvPr/>
        </p:nvPicPr>
        <p:blipFill>
          <a:blip r:embed="rId3"/>
          <a:srcRect/>
          <a:stretch/>
        </p:blipFill>
        <p:spPr>
          <a:xfrm>
            <a:off x="6761480" y="2194560"/>
            <a:ext cx="304800" cy="304800"/>
          </a:xfrm>
          <a:prstGeom prst="rect">
            <a:avLst/>
          </a:prstGeom>
        </p:spPr>
      </p:pic>
      <p:sp>
        <p:nvSpPr>
          <p:cNvPr id="9" name="Text 6"/>
          <p:cNvSpPr/>
          <p:nvPr/>
        </p:nvSpPr>
        <p:spPr>
          <a:xfrm>
            <a:off x="6761480" y="2575560"/>
            <a:ext cx="197784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02B"/>
                </a:solidFill>
                <a:latin typeface="Space Grotesk" pitchFamily="34" charset="0"/>
                <a:ea typeface="Space Grotesk" pitchFamily="34" charset="-122"/>
                <a:cs typeface="Space Grotesk" pitchFamily="34" charset="-120"/>
              </a:rPr>
              <a:t>Python</a:t>
            </a:r>
            <a:endParaRPr lang="en-US" sz="1800" dirty="0"/>
          </a:p>
        </p:txBody>
      </p:sp>
      <p:sp>
        <p:nvSpPr>
          <p:cNvPr id="10" name="Text 7"/>
          <p:cNvSpPr/>
          <p:nvPr/>
        </p:nvSpPr>
        <p:spPr>
          <a:xfrm>
            <a:off x="6761480" y="2926080"/>
            <a:ext cx="1977847"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0"/>
                </a:solidFill>
                <a:latin typeface="IBM Plex Sans" pitchFamily="34" charset="0"/>
                <a:ea typeface="IBM Plex Sans" pitchFamily="34" charset="-122"/>
                <a:cs typeface="IBM Plex Sans" pitchFamily="34" charset="-120"/>
              </a:rPr>
              <a:t>Eén script: app.py</a:t>
            </a:r>
            <a:endParaRPr lang="en-US" sz="1300" dirty="0"/>
          </a:p>
        </p:txBody>
      </p:sp>
      <p:sp>
        <p:nvSpPr>
          <p:cNvPr id="11" name="Shape 8"/>
          <p:cNvSpPr/>
          <p:nvPr/>
        </p:nvSpPr>
        <p:spPr>
          <a:xfrm>
            <a:off x="9045575" y="1989455"/>
            <a:ext cx="2330450" cy="1845310"/>
          </a:xfrm>
          <a:prstGeom prst="roundRect">
            <a:avLst>
              <a:gd name="adj" fmla="val 5334"/>
            </a:avLst>
          </a:prstGeom>
          <a:solidFill>
            <a:srgbClr val="FFFFFF"/>
          </a:solidFill>
          <a:ln w="6350">
            <a:solidFill>
              <a:srgbClr val="E2DED4"/>
            </a:solidFill>
            <a:prstDash val="solid"/>
          </a:ln>
        </p:spPr>
        <p:txBody>
          <a:bodyPr/>
          <a:lstStyle/>
          <a:p>
            <a:endParaRPr lang="nl-BE"/>
          </a:p>
        </p:txBody>
      </p:sp>
      <p:pic>
        <p:nvPicPr>
          <p:cNvPr id="12" name="Image 1" descr="Lightning"/>
          <p:cNvPicPr>
            <a:picLocks noChangeAspect="1"/>
          </p:cNvPicPr>
          <p:nvPr/>
        </p:nvPicPr>
        <p:blipFill>
          <a:blip r:embed="rId4"/>
          <a:srcRect/>
          <a:stretch/>
        </p:blipFill>
        <p:spPr>
          <a:xfrm>
            <a:off x="9250680" y="2194560"/>
            <a:ext cx="304800" cy="304800"/>
          </a:xfrm>
          <a:prstGeom prst="rect">
            <a:avLst/>
          </a:prstGeom>
        </p:spPr>
      </p:pic>
      <p:sp>
        <p:nvSpPr>
          <p:cNvPr id="13" name="Text 9"/>
          <p:cNvSpPr/>
          <p:nvPr/>
        </p:nvSpPr>
        <p:spPr>
          <a:xfrm>
            <a:off x="9250680" y="2575560"/>
            <a:ext cx="197784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02B"/>
                </a:solidFill>
                <a:latin typeface="Space Grotesk" pitchFamily="34" charset="0"/>
                <a:ea typeface="Space Grotesk" pitchFamily="34" charset="-122"/>
                <a:cs typeface="Space Grotesk" pitchFamily="34" charset="-120"/>
              </a:rPr>
              <a:t>Groq API</a:t>
            </a:r>
            <a:endParaRPr lang="en-US" sz="1800" dirty="0"/>
          </a:p>
        </p:txBody>
      </p:sp>
      <p:sp>
        <p:nvSpPr>
          <p:cNvPr id="14" name="Text 10"/>
          <p:cNvSpPr/>
          <p:nvPr/>
        </p:nvSpPr>
        <p:spPr>
          <a:xfrm>
            <a:off x="9250680" y="2926080"/>
            <a:ext cx="197784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0"/>
                </a:solidFill>
                <a:latin typeface="IBM Plex Sans" pitchFamily="34" charset="0"/>
                <a:ea typeface="IBM Plex Sans" pitchFamily="34" charset="-122"/>
                <a:cs typeface="IBM Plex Sans" pitchFamily="34" charset="-120"/>
              </a:rPr>
              <a:t>Model openai/gpt-oss-120b, gratis tier</a:t>
            </a:r>
            <a:endParaRPr lang="en-US" sz="1300" dirty="0"/>
          </a:p>
        </p:txBody>
      </p:sp>
      <p:sp>
        <p:nvSpPr>
          <p:cNvPr id="15" name="Shape 11"/>
          <p:cNvSpPr/>
          <p:nvPr/>
        </p:nvSpPr>
        <p:spPr>
          <a:xfrm>
            <a:off x="6556375" y="3993515"/>
            <a:ext cx="2330450" cy="1845310"/>
          </a:xfrm>
          <a:prstGeom prst="roundRect">
            <a:avLst>
              <a:gd name="adj" fmla="val 5334"/>
            </a:avLst>
          </a:prstGeom>
          <a:solidFill>
            <a:srgbClr val="FFFFFF"/>
          </a:solidFill>
          <a:ln w="6350">
            <a:solidFill>
              <a:srgbClr val="E2DED4"/>
            </a:solidFill>
            <a:prstDash val="solid"/>
          </a:ln>
        </p:spPr>
        <p:txBody>
          <a:bodyPr/>
          <a:lstStyle/>
          <a:p>
            <a:endParaRPr lang="nl-BE"/>
          </a:p>
        </p:txBody>
      </p:sp>
      <p:pic>
        <p:nvPicPr>
          <p:cNvPr id="16" name="Image 2" descr="Book"/>
          <p:cNvPicPr>
            <a:picLocks noChangeAspect="1"/>
          </p:cNvPicPr>
          <p:nvPr/>
        </p:nvPicPr>
        <p:blipFill>
          <a:blip r:embed="rId5"/>
          <a:srcRect/>
          <a:stretch/>
        </p:blipFill>
        <p:spPr>
          <a:xfrm>
            <a:off x="6761480" y="4198620"/>
            <a:ext cx="304800" cy="304800"/>
          </a:xfrm>
          <a:prstGeom prst="rect">
            <a:avLst/>
          </a:prstGeom>
        </p:spPr>
      </p:pic>
      <p:sp>
        <p:nvSpPr>
          <p:cNvPr id="17" name="Text 12"/>
          <p:cNvSpPr/>
          <p:nvPr/>
        </p:nvSpPr>
        <p:spPr>
          <a:xfrm>
            <a:off x="6761480" y="4579620"/>
            <a:ext cx="197784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02B"/>
                </a:solidFill>
                <a:latin typeface="Space Grotesk" pitchFamily="34" charset="0"/>
                <a:ea typeface="Space Grotesk" pitchFamily="34" charset="-122"/>
                <a:cs typeface="Space Grotesk" pitchFamily="34" charset="-120"/>
              </a:rPr>
              <a:t>8 ECTS-fiches</a:t>
            </a:r>
            <a:endParaRPr lang="en-US" sz="1800" dirty="0"/>
          </a:p>
        </p:txBody>
      </p:sp>
      <p:sp>
        <p:nvSpPr>
          <p:cNvPr id="18" name="Text 13"/>
          <p:cNvSpPr/>
          <p:nvPr/>
        </p:nvSpPr>
        <p:spPr>
          <a:xfrm>
            <a:off x="6761480" y="4930140"/>
            <a:ext cx="197784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0"/>
                </a:solidFill>
                <a:latin typeface="IBM Plex Sans" pitchFamily="34" charset="0"/>
                <a:ea typeface="IBM Plex Sans" pitchFamily="34" charset="-122"/>
                <a:cs typeface="IBM Plex Sans" pitchFamily="34" charset="-120"/>
              </a:rPr>
              <a:t>Eén map per vak in context/</a:t>
            </a:r>
            <a:endParaRPr lang="en-US" sz="1300" dirty="0"/>
          </a:p>
        </p:txBody>
      </p:sp>
      <p:sp>
        <p:nvSpPr>
          <p:cNvPr id="19" name="Shape 14"/>
          <p:cNvSpPr/>
          <p:nvPr/>
        </p:nvSpPr>
        <p:spPr>
          <a:xfrm>
            <a:off x="9045575" y="3993515"/>
            <a:ext cx="2330450" cy="1845310"/>
          </a:xfrm>
          <a:prstGeom prst="roundRect">
            <a:avLst>
              <a:gd name="adj" fmla="val 5334"/>
            </a:avLst>
          </a:prstGeom>
          <a:solidFill>
            <a:srgbClr val="FFFFFF"/>
          </a:solidFill>
          <a:ln w="6350">
            <a:solidFill>
              <a:srgbClr val="E2DED4"/>
            </a:solidFill>
            <a:prstDash val="solid"/>
          </a:ln>
        </p:spPr>
        <p:txBody>
          <a:bodyPr/>
          <a:lstStyle/>
          <a:p>
            <a:endParaRPr lang="nl-BE"/>
          </a:p>
        </p:txBody>
      </p:sp>
      <p:pic>
        <p:nvPicPr>
          <p:cNvPr id="20" name="Image 3" descr="Database"/>
          <p:cNvPicPr>
            <a:picLocks noChangeAspect="1"/>
          </p:cNvPicPr>
          <p:nvPr/>
        </p:nvPicPr>
        <p:blipFill>
          <a:blip r:embed="rId6"/>
          <a:srcRect/>
          <a:stretch/>
        </p:blipFill>
        <p:spPr>
          <a:xfrm>
            <a:off x="9250680" y="4198620"/>
            <a:ext cx="304800" cy="304800"/>
          </a:xfrm>
          <a:prstGeom prst="rect">
            <a:avLst/>
          </a:prstGeom>
        </p:spPr>
      </p:pic>
      <p:sp>
        <p:nvSpPr>
          <p:cNvPr id="21" name="Text 15"/>
          <p:cNvSpPr/>
          <p:nvPr/>
        </p:nvSpPr>
        <p:spPr>
          <a:xfrm>
            <a:off x="9250680" y="4579620"/>
            <a:ext cx="197784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02B"/>
                </a:solidFill>
                <a:latin typeface="Space Grotesk" pitchFamily="34" charset="0"/>
                <a:ea typeface="Space Grotesk" pitchFamily="34" charset="-122"/>
                <a:cs typeface="Space Grotesk" pitchFamily="34" charset="-120"/>
              </a:rPr>
              <a:t>geheugen.json</a:t>
            </a:r>
            <a:endParaRPr lang="en-US" sz="1800" dirty="0"/>
          </a:p>
        </p:txBody>
      </p:sp>
      <p:sp>
        <p:nvSpPr>
          <p:cNvPr id="22" name="Text 16"/>
          <p:cNvSpPr/>
          <p:nvPr/>
        </p:nvSpPr>
        <p:spPr>
          <a:xfrm>
            <a:off x="9250680" y="4930140"/>
            <a:ext cx="1977847"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0"/>
                </a:solidFill>
                <a:latin typeface="IBM Plex Sans" pitchFamily="34" charset="0"/>
                <a:ea typeface="IBM Plex Sans" pitchFamily="34" charset="-122"/>
                <a:cs typeface="IBM Plex Sans" pitchFamily="34" charset="-120"/>
              </a:rPr>
              <a:t>Onthoudt mij tussen sessies</a:t>
            </a:r>
            <a:endParaRPr lang="en-US" sz="1300" dirty="0"/>
          </a:p>
        </p:txBody>
      </p:sp>
      <p:sp>
        <p:nvSpPr>
          <p:cNvPr id="23" name="Text 17"/>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7A828E"/>
                </a:solidFill>
                <a:latin typeface="IBM Plex Sans" pitchFamily="34" charset="0"/>
                <a:ea typeface="IBM Plex Sans" pitchFamily="34" charset="-122"/>
                <a:cs typeface="IBM Plex Sans" pitchFamily="34" charset="-120"/>
              </a:rPr>
              <a:t>StudieBuddy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501F"/>
                </a:solidFill>
                <a:latin typeface="JetBrains Mono" pitchFamily="49" charset="0"/>
                <a:ea typeface="JetBrains Mono" pitchFamily="49" charset="-122"/>
                <a:cs typeface="JetBrains Mono" pitchFamily="49" charset="-120"/>
              </a:rPr>
              <a:t>02 · HOE HET WERKT</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5202B"/>
                </a:solidFill>
                <a:latin typeface="Space Grotesk" pitchFamily="34" charset="0"/>
                <a:ea typeface="Space Grotesk" pitchFamily="34" charset="-122"/>
                <a:cs typeface="Space Grotesk" pitchFamily="34" charset="-120"/>
              </a:rPr>
              <a:t>Vijf lagen context in de system prompt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0"/>
          <a:ext cx="10556239" cy="3175000"/>
        </p:xfrm>
        <a:graphic>
          <a:graphicData uri="http://schemas.openxmlformats.org/drawingml/2006/table">
            <a:tbl>
              <a:tblPr/>
              <a:tblGrid>
                <a:gridCol w="633374">
                  <a:extLst>
                    <a:ext uri="{9D8B030D-6E8A-4147-A177-3AD203B41FA5}">
                      <a16:colId xmlns:a16="http://schemas.microsoft.com/office/drawing/2014/main" val="20000"/>
                    </a:ext>
                  </a:extLst>
                </a:gridCol>
                <a:gridCol w="2955747">
                  <a:extLst>
                    <a:ext uri="{9D8B030D-6E8A-4147-A177-3AD203B41FA5}">
                      <a16:colId xmlns:a16="http://schemas.microsoft.com/office/drawing/2014/main" val="20001"/>
                    </a:ext>
                  </a:extLst>
                </a:gridCol>
                <a:gridCol w="3166872">
                  <a:extLst>
                    <a:ext uri="{9D8B030D-6E8A-4147-A177-3AD203B41FA5}">
                      <a16:colId xmlns:a16="http://schemas.microsoft.com/office/drawing/2014/main" val="20002"/>
                    </a:ext>
                  </a:extLst>
                </a:gridCol>
                <a:gridCol w="3800246">
                  <a:extLst>
                    <a:ext uri="{9D8B030D-6E8A-4147-A177-3AD203B41FA5}">
                      <a16:colId xmlns:a16="http://schemas.microsoft.com/office/drawing/2014/main" val="20003"/>
                    </a:ext>
                  </a:extLst>
                </a:gridCol>
              </a:tblGrid>
              <a:tr h="487680">
                <a:tc>
                  <a:txBody>
                    <a:bodyPr/>
                    <a:lstStyle/>
                    <a:p>
                      <a:pPr marL="0" indent="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marL="0" indent="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Laag</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marL="0" indent="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Bron in de code</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marL="0" indent="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Voorbeeld</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extLst>
                  <a:ext uri="{0D108BD9-81ED-4DB2-BD59-A6C34878D82A}">
                    <a16:rowId xmlns:a16="http://schemas.microsoft.com/office/drawing/2014/main" val="10000"/>
                  </a:ext>
                </a:extLst>
              </a:tr>
              <a:tr h="736600">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Rol</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vaste tekst in bouw_context()</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Kort antwoorden, in het Nederlands, bij naam</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87680">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Kennis</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context/&lt;vak&gt;/*.md</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Titularis, studiepunten, evaluatie</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2"/>
                  </a:ext>
                </a:extLst>
              </a:tr>
              <a:tr h="487680">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Tijd en locatie</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datetime.now(), LOCATIE</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Woensdag 07/10, semester 1, Campus</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87680">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Gebruikersgeschiedenis</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geschiedenis/geheugen.json</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Naam, aantal sessies, laatste 5 vragen</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r h="487680">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Sessiegegevens</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sessie-dict in het geheugen</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2B3644"/>
                          </a:solidFill>
                          <a:latin typeface="IBM Plex Sans" pitchFamily="34" charset="0"/>
                          <a:ea typeface="IBM Plex Sans" pitchFamily="34" charset="-122"/>
                          <a:cs typeface="IBM Plex Sans" pitchFamily="34" charset="-120"/>
                        </a:rPr>
                        <a:t>Sessie-id, starttijd, volledige chat</a:t>
                      </a:r>
                      <a:endParaRPr lang="en-US" sz="1400" dirty="0">
                        <a:latin typeface="IBM Plex Sans" charset="0"/>
                        <a:ea typeface="IBM Plex Sans" charset="0"/>
                        <a:cs typeface="IBM Plex Sans" charset="0"/>
                      </a:endParaRPr>
                    </a:p>
                  </a:txBody>
                  <a:tcPr marL="152400" marR="152400" marT="114300" marB="1143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7A828E"/>
                </a:solidFill>
                <a:latin typeface="IBM Plex Sans" pitchFamily="34" charset="0"/>
                <a:ea typeface="IBM Plex Sans" pitchFamily="34" charset="-122"/>
                <a:cs typeface="IBM Plex Sans" pitchFamily="34" charset="-120"/>
              </a:rPr>
              <a:t>StudieBuddy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0A36B"/>
                </a:solidFill>
                <a:latin typeface="JetBrains Mono" pitchFamily="49" charset="0"/>
                <a:ea typeface="JetBrains Mono" pitchFamily="49" charset="-122"/>
                <a:cs typeface="JetBrains Mono" pitchFamily="49" charset="-120"/>
              </a:rPr>
              <a:t>02 · HOE HET WERKT</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3EE"/>
                </a:solidFill>
                <a:latin typeface="Space Grotesk" pitchFamily="34" charset="0"/>
                <a:ea typeface="Space Grotesk" pitchFamily="34" charset="-122"/>
                <a:cs typeface="Space Grotesk" pitchFamily="34" charset="-120"/>
              </a:rPr>
              <a:t>Slim kiezen welke context meegaat</a:t>
            </a:r>
            <a:endParaRPr lang="en-US" sz="3600" dirty="0"/>
          </a:p>
        </p:txBody>
      </p:sp>
      <p:sp>
        <p:nvSpPr>
          <p:cNvPr id="4" name="Text 2"/>
          <p:cNvSpPr/>
          <p:nvPr/>
        </p:nvSpPr>
        <p:spPr>
          <a:xfrm>
            <a:off x="812800" y="2865121"/>
            <a:ext cx="4055110" cy="1168400"/>
          </a:xfrm>
          <a:prstGeom prst="rect">
            <a:avLst/>
          </a:prstGeom>
          <a:noFill/>
          <a:ln/>
        </p:spPr>
        <p:txBody>
          <a:bodyPr wrap="square" lIns="0" tIns="0" rIns="0" bIns="0" rtlCol="0" anchor="t">
            <a:normAutofit/>
          </a:bodyPr>
          <a:lstStyle/>
          <a:p>
            <a:pPr marL="0" indent="0" algn="l">
              <a:lnSpc>
                <a:spcPts val="9000"/>
              </a:lnSpc>
              <a:buNone/>
            </a:pPr>
            <a:r>
              <a:rPr lang="en-US" sz="9000" b="1" kern="0" spc="-300" dirty="0">
                <a:solidFill>
                  <a:srgbClr val="F0A36B"/>
                </a:solidFill>
                <a:latin typeface="Space Grotesk" pitchFamily="34" charset="0"/>
                <a:ea typeface="Space Grotesk" pitchFamily="34" charset="-122"/>
                <a:cs typeface="Space Grotesk" pitchFamily="34" charset="-120"/>
              </a:rPr>
              <a:t>8.000</a:t>
            </a:r>
            <a:endParaRPr lang="en-US" sz="9000" dirty="0"/>
          </a:p>
        </p:txBody>
      </p:sp>
      <p:sp>
        <p:nvSpPr>
          <p:cNvPr id="5" name="Text 3"/>
          <p:cNvSpPr/>
          <p:nvPr/>
        </p:nvSpPr>
        <p:spPr>
          <a:xfrm>
            <a:off x="812800" y="4058921"/>
            <a:ext cx="4055110"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2DB"/>
                </a:solidFill>
                <a:latin typeface="IBM Plex Sans" pitchFamily="34" charset="0"/>
                <a:ea typeface="IBM Plex Sans" pitchFamily="34" charset="-122"/>
                <a:cs typeface="IBM Plex Sans" pitchFamily="34" charset="-120"/>
              </a:rPr>
              <a:t>tokens per minuut op de gratis Groq-tier. Alle 8 fiches samen zijn ongeveer 52 kB tekst: te veel voor één vraag.</a:t>
            </a:r>
            <a:endParaRPr lang="en-US" sz="1600" dirty="0"/>
          </a:p>
        </p:txBody>
      </p:sp>
      <p:sp>
        <p:nvSpPr>
          <p:cNvPr id="6" name="Shape 4"/>
          <p:cNvSpPr/>
          <p:nvPr/>
        </p:nvSpPr>
        <p:spPr>
          <a:xfrm>
            <a:off x="5270500" y="2731771"/>
            <a:ext cx="0" cy="675640"/>
          </a:xfrm>
          <a:prstGeom prst="line">
            <a:avLst/>
          </a:prstGeom>
          <a:noFill/>
          <a:ln w="25400">
            <a:solidFill>
              <a:srgbClr val="F0A36B"/>
            </a:solidFill>
            <a:prstDash val="solid"/>
          </a:ln>
        </p:spPr>
        <p:txBody>
          <a:bodyPr/>
          <a:lstStyle/>
          <a:p>
            <a:endParaRPr lang="nl-BE"/>
          </a:p>
        </p:txBody>
      </p:sp>
      <p:sp>
        <p:nvSpPr>
          <p:cNvPr id="7" name="Text 5"/>
          <p:cNvSpPr/>
          <p:nvPr/>
        </p:nvSpPr>
        <p:spPr>
          <a:xfrm>
            <a:off x="5486400" y="2782571"/>
            <a:ext cx="606958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Space Grotesk" pitchFamily="34" charset="0"/>
                <a:ea typeface="Space Grotesk" pitchFamily="34" charset="-122"/>
                <a:cs typeface="Space Grotesk" pitchFamily="34" charset="-120"/>
              </a:rPr>
              <a:t>Altijd een kort overzicht</a:t>
            </a:r>
            <a:endParaRPr lang="en-US" sz="1800" dirty="0"/>
          </a:p>
        </p:txBody>
      </p:sp>
      <p:sp>
        <p:nvSpPr>
          <p:cNvPr id="8" name="Text 6"/>
          <p:cNvSpPr/>
          <p:nvPr/>
        </p:nvSpPr>
        <p:spPr>
          <a:xfrm>
            <a:off x="5486400" y="3107689"/>
            <a:ext cx="606958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2DB"/>
                </a:solidFill>
                <a:latin typeface="IBM Plex Sans" pitchFamily="34" charset="0"/>
                <a:ea typeface="IBM Plex Sans" pitchFamily="34" charset="-122"/>
                <a:cs typeface="IBM Plex Sans" pitchFamily="34" charset="-120"/>
              </a:rPr>
              <a:t>Per vak enkel titularis, studiepunten en semester</a:t>
            </a:r>
            <a:endParaRPr lang="en-US" sz="1400" dirty="0"/>
          </a:p>
        </p:txBody>
      </p:sp>
      <p:sp>
        <p:nvSpPr>
          <p:cNvPr id="9" name="Shape 7"/>
          <p:cNvSpPr/>
          <p:nvPr/>
        </p:nvSpPr>
        <p:spPr>
          <a:xfrm>
            <a:off x="5270500" y="3559811"/>
            <a:ext cx="0" cy="675640"/>
          </a:xfrm>
          <a:prstGeom prst="line">
            <a:avLst/>
          </a:prstGeom>
          <a:noFill/>
          <a:ln w="25400">
            <a:solidFill>
              <a:srgbClr val="F0A36B"/>
            </a:solidFill>
            <a:prstDash val="solid"/>
          </a:ln>
        </p:spPr>
        <p:txBody>
          <a:bodyPr/>
          <a:lstStyle/>
          <a:p>
            <a:endParaRPr lang="nl-BE"/>
          </a:p>
        </p:txBody>
      </p:sp>
      <p:sp>
        <p:nvSpPr>
          <p:cNvPr id="10" name="Text 8"/>
          <p:cNvSpPr/>
          <p:nvPr/>
        </p:nvSpPr>
        <p:spPr>
          <a:xfrm>
            <a:off x="5486400" y="3610611"/>
            <a:ext cx="606958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Space Grotesk" pitchFamily="34" charset="0"/>
                <a:ea typeface="Space Grotesk" pitchFamily="34" charset="-122"/>
                <a:cs typeface="Space Grotesk" pitchFamily="34" charset="-120"/>
              </a:rPr>
              <a:t>Volledige fiche op vraag</a:t>
            </a:r>
            <a:endParaRPr lang="en-US" sz="1800" dirty="0"/>
          </a:p>
        </p:txBody>
      </p:sp>
      <p:sp>
        <p:nvSpPr>
          <p:cNvPr id="11" name="Text 9"/>
          <p:cNvSpPr/>
          <p:nvPr/>
        </p:nvSpPr>
        <p:spPr>
          <a:xfrm>
            <a:off x="5486400" y="3935732"/>
            <a:ext cx="606958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2DB"/>
                </a:solidFill>
                <a:latin typeface="IBM Plex Sans" pitchFamily="34" charset="0"/>
                <a:ea typeface="IBM Plex Sans" pitchFamily="34" charset="-122"/>
                <a:cs typeface="IBM Plex Sans" pitchFamily="34" charset="-120"/>
              </a:rPr>
              <a:t>Enkel voor vakken die in de laatste 2 vragen genoemd worden</a:t>
            </a:r>
            <a:endParaRPr lang="en-US" sz="1400" dirty="0"/>
          </a:p>
        </p:txBody>
      </p:sp>
      <p:sp>
        <p:nvSpPr>
          <p:cNvPr id="12" name="Shape 10"/>
          <p:cNvSpPr/>
          <p:nvPr/>
        </p:nvSpPr>
        <p:spPr>
          <a:xfrm>
            <a:off x="5270500" y="4387850"/>
            <a:ext cx="0" cy="657860"/>
          </a:xfrm>
          <a:prstGeom prst="line">
            <a:avLst/>
          </a:prstGeom>
          <a:noFill/>
          <a:ln w="25400">
            <a:solidFill>
              <a:srgbClr val="F0A36B"/>
            </a:solidFill>
            <a:prstDash val="solid"/>
          </a:ln>
        </p:spPr>
        <p:txBody>
          <a:bodyPr/>
          <a:lstStyle/>
          <a:p>
            <a:endParaRPr lang="nl-BE"/>
          </a:p>
        </p:txBody>
      </p:sp>
      <p:sp>
        <p:nvSpPr>
          <p:cNvPr id="13" name="Text 11"/>
          <p:cNvSpPr/>
          <p:nvPr/>
        </p:nvSpPr>
        <p:spPr>
          <a:xfrm>
            <a:off x="5486400" y="4438650"/>
            <a:ext cx="606958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Space Grotesk" pitchFamily="34" charset="0"/>
                <a:ea typeface="Space Grotesk" pitchFamily="34" charset="-122"/>
                <a:cs typeface="Space Grotesk" pitchFamily="34" charset="-120"/>
              </a:rPr>
              <a:t>Maximum 2 fiches</a:t>
            </a:r>
            <a:endParaRPr lang="en-US" sz="1800" dirty="0"/>
          </a:p>
        </p:txBody>
      </p:sp>
      <p:sp>
        <p:nvSpPr>
          <p:cNvPr id="14" name="Text 12"/>
          <p:cNvSpPr/>
          <p:nvPr/>
        </p:nvSpPr>
        <p:spPr>
          <a:xfrm>
            <a:off x="5486400" y="4763771"/>
            <a:ext cx="606958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2DB"/>
                </a:solidFill>
                <a:latin typeface="JetBrains Mono" pitchFamily="49" charset="0"/>
                <a:ea typeface="JetBrains Mono" pitchFamily="49" charset="-122"/>
                <a:cs typeface="JetBrains Mono" pitchFamily="49" charset="-120"/>
              </a:rPr>
              <a:t>MAX_FICHES = 2</a:t>
            </a:r>
            <a:endParaRPr lang="en-US" sz="1300" dirty="0"/>
          </a:p>
        </p:txBody>
      </p:sp>
      <p:sp>
        <p:nvSpPr>
          <p:cNvPr id="15" name="Text 13"/>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9AA7B4"/>
                </a:solidFill>
                <a:latin typeface="IBM Plex Sans" pitchFamily="34" charset="0"/>
                <a:ea typeface="IBM Plex Sans" pitchFamily="34" charset="-122"/>
                <a:cs typeface="IBM Plex Sans" pitchFamily="34" charset="-120"/>
              </a:rPr>
              <a:t>StudieBuddy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501F"/>
                </a:solidFill>
                <a:latin typeface="JetBrains Mono" pitchFamily="49" charset="0"/>
                <a:ea typeface="JetBrains Mono" pitchFamily="49" charset="-122"/>
                <a:cs typeface="JetBrains Mono" pitchFamily="49" charset="-120"/>
              </a:rPr>
              <a:t>02 · HOE HET WERKT</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5202B"/>
                </a:solidFill>
                <a:latin typeface="Space Grotesk" pitchFamily="34" charset="0"/>
                <a:ea typeface="Space Grotesk" pitchFamily="34" charset="-122"/>
                <a:cs typeface="Space Grotesk" pitchFamily="34" charset="-120"/>
              </a:rPr>
              <a:t>Van vraag tot antwoord</a:t>
            </a:r>
            <a:endParaRPr lang="en-US" sz="3600" dirty="0"/>
          </a:p>
        </p:txBody>
      </p:sp>
      <p:sp>
        <p:nvSpPr>
          <p:cNvPr id="4" name="Shape 2"/>
          <p:cNvSpPr/>
          <p:nvPr/>
        </p:nvSpPr>
        <p:spPr>
          <a:xfrm>
            <a:off x="815975" y="2040255"/>
            <a:ext cx="2294890" cy="1643380"/>
          </a:xfrm>
          <a:prstGeom prst="roundRect">
            <a:avLst>
              <a:gd name="adj" fmla="val 5989"/>
            </a:avLst>
          </a:prstGeom>
          <a:solidFill>
            <a:srgbClr val="FFFFFF"/>
          </a:solidFill>
          <a:ln w="6350">
            <a:solidFill>
              <a:srgbClr val="E2DED4"/>
            </a:solidFill>
            <a:prstDash val="solid"/>
          </a:ln>
        </p:spPr>
        <p:txBody>
          <a:bodyPr/>
          <a:lstStyle/>
          <a:p>
            <a:endParaRPr lang="nl-BE"/>
          </a:p>
        </p:txBody>
      </p:sp>
      <p:sp>
        <p:nvSpPr>
          <p:cNvPr id="5" name="Text 3"/>
          <p:cNvSpPr/>
          <p:nvPr/>
        </p:nvSpPr>
        <p:spPr>
          <a:xfrm>
            <a:off x="1021080" y="2245361"/>
            <a:ext cx="1941221"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01F"/>
                </a:solidFill>
                <a:latin typeface="Space Grotesk" pitchFamily="34" charset="0"/>
                <a:ea typeface="Space Grotesk" pitchFamily="34" charset="-122"/>
                <a:cs typeface="Space Grotesk" pitchFamily="34" charset="-120"/>
              </a:rPr>
              <a:t>1</a:t>
            </a:r>
            <a:endParaRPr lang="en-US" sz="2200" dirty="0"/>
          </a:p>
        </p:txBody>
      </p:sp>
      <p:sp>
        <p:nvSpPr>
          <p:cNvPr id="6" name="Text 4"/>
          <p:cNvSpPr/>
          <p:nvPr/>
        </p:nvSpPr>
        <p:spPr>
          <a:xfrm>
            <a:off x="1021080" y="2712720"/>
            <a:ext cx="194122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Vraag</a:t>
            </a:r>
            <a:endParaRPr lang="en-US" sz="1600" dirty="0"/>
          </a:p>
        </p:txBody>
      </p:sp>
      <p:sp>
        <p:nvSpPr>
          <p:cNvPr id="7" name="Text 5"/>
          <p:cNvSpPr/>
          <p:nvPr/>
        </p:nvSpPr>
        <p:spPr>
          <a:xfrm>
            <a:off x="1021080" y="3032761"/>
            <a:ext cx="194122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0"/>
                </a:solidFill>
                <a:latin typeface="IBM Plex Sans" pitchFamily="34" charset="0"/>
                <a:ea typeface="IBM Plex Sans" pitchFamily="34" charset="-122"/>
                <a:cs typeface="IBM Plex Sans" pitchFamily="34" charset="-120"/>
              </a:rPr>
              <a:t>Student typt in de terminal</a:t>
            </a:r>
            <a:endParaRPr lang="en-US" sz="1300" dirty="0"/>
          </a:p>
        </p:txBody>
      </p:sp>
      <p:pic>
        <p:nvPicPr>
          <p:cNvPr id="8" name="Image 0" descr="connector"/>
          <p:cNvPicPr>
            <a:picLocks noChangeAspect="1"/>
          </p:cNvPicPr>
          <p:nvPr/>
        </p:nvPicPr>
        <p:blipFill>
          <a:blip r:embed="rId3"/>
          <a:srcRect/>
          <a:stretch/>
        </p:blipFill>
        <p:spPr>
          <a:xfrm>
            <a:off x="3215640" y="2811145"/>
            <a:ext cx="254000" cy="101600"/>
          </a:xfrm>
          <a:prstGeom prst="rect">
            <a:avLst/>
          </a:prstGeom>
        </p:spPr>
      </p:pic>
      <p:sp>
        <p:nvSpPr>
          <p:cNvPr id="9" name="Shape 6"/>
          <p:cNvSpPr/>
          <p:nvPr/>
        </p:nvSpPr>
        <p:spPr>
          <a:xfrm>
            <a:off x="3574415" y="2055495"/>
            <a:ext cx="2294890" cy="1612900"/>
          </a:xfrm>
          <a:prstGeom prst="roundRect">
            <a:avLst>
              <a:gd name="adj" fmla="val 6102"/>
            </a:avLst>
          </a:prstGeom>
          <a:solidFill>
            <a:srgbClr val="FFFFFF"/>
          </a:solidFill>
          <a:ln w="6350">
            <a:solidFill>
              <a:srgbClr val="E2DED4"/>
            </a:solidFill>
            <a:prstDash val="solid"/>
          </a:ln>
        </p:spPr>
        <p:txBody>
          <a:bodyPr/>
          <a:lstStyle/>
          <a:p>
            <a:endParaRPr lang="nl-BE"/>
          </a:p>
        </p:txBody>
      </p:sp>
      <p:sp>
        <p:nvSpPr>
          <p:cNvPr id="10" name="Text 7"/>
          <p:cNvSpPr/>
          <p:nvPr/>
        </p:nvSpPr>
        <p:spPr>
          <a:xfrm>
            <a:off x="3779520" y="2260600"/>
            <a:ext cx="1941221"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01F"/>
                </a:solidFill>
                <a:latin typeface="Space Grotesk" pitchFamily="34" charset="0"/>
                <a:ea typeface="Space Grotesk" pitchFamily="34" charset="-122"/>
                <a:cs typeface="Space Grotesk" pitchFamily="34" charset="-120"/>
              </a:rPr>
              <a:t>2</a:t>
            </a:r>
            <a:endParaRPr lang="en-US" sz="2200" dirty="0"/>
          </a:p>
        </p:txBody>
      </p:sp>
      <p:sp>
        <p:nvSpPr>
          <p:cNvPr id="11" name="Text 8"/>
          <p:cNvSpPr/>
          <p:nvPr/>
        </p:nvSpPr>
        <p:spPr>
          <a:xfrm>
            <a:off x="3779520" y="2727961"/>
            <a:ext cx="194122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202B"/>
                </a:solidFill>
                <a:latin typeface="JetBrains Mono" pitchFamily="49" charset="0"/>
                <a:ea typeface="JetBrains Mono" pitchFamily="49" charset="-122"/>
                <a:cs typeface="JetBrains Mono" pitchFamily="49" charset="-120"/>
              </a:rPr>
              <a:t>relevante_vakken()</a:t>
            </a:r>
            <a:endParaRPr lang="en-US" sz="1200" dirty="0"/>
          </a:p>
        </p:txBody>
      </p:sp>
      <p:sp>
        <p:nvSpPr>
          <p:cNvPr id="12" name="Text 9"/>
          <p:cNvSpPr/>
          <p:nvPr/>
        </p:nvSpPr>
        <p:spPr>
          <a:xfrm>
            <a:off x="3779520" y="3017520"/>
            <a:ext cx="194122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0"/>
                </a:solidFill>
                <a:latin typeface="IBM Plex Sans" pitchFamily="34" charset="0"/>
                <a:ea typeface="IBM Plex Sans" pitchFamily="34" charset="-122"/>
                <a:cs typeface="IBM Plex Sans" pitchFamily="34" charset="-120"/>
              </a:rPr>
              <a:t>Zoekt vaknamen in de </a:t>
            </a:r>
            <a:r>
              <a:rPr lang="en-US" sz="1300" dirty="0" err="1">
                <a:solidFill>
                  <a:srgbClr val="4A5260"/>
                </a:solidFill>
                <a:latin typeface="IBM Plex Sans" pitchFamily="34" charset="0"/>
                <a:ea typeface="IBM Plex Sans" pitchFamily="34" charset="-122"/>
                <a:cs typeface="IBM Plex Sans" pitchFamily="34" charset="-120"/>
              </a:rPr>
              <a:t>laatste</a:t>
            </a:r>
            <a:r>
              <a:rPr lang="en-US" sz="1300" dirty="0">
                <a:solidFill>
                  <a:srgbClr val="4A5260"/>
                </a:solidFill>
                <a:latin typeface="IBM Plex Sans" pitchFamily="34" charset="0"/>
                <a:ea typeface="IBM Plex Sans" pitchFamily="34" charset="-122"/>
                <a:cs typeface="IBM Plex Sans" pitchFamily="34" charset="-120"/>
              </a:rPr>
              <a:t> </a:t>
            </a:r>
            <a:r>
              <a:rPr lang="en-US" sz="1300" dirty="0" err="1">
                <a:solidFill>
                  <a:srgbClr val="4A5260"/>
                </a:solidFill>
                <a:latin typeface="IBM Plex Sans" pitchFamily="34" charset="0"/>
                <a:ea typeface="IBM Plex Sans" pitchFamily="34" charset="-122"/>
                <a:cs typeface="IBM Plex Sans" pitchFamily="34" charset="-120"/>
              </a:rPr>
              <a:t>vragen</a:t>
            </a:r>
            <a:endParaRPr lang="en-US" sz="1300" dirty="0"/>
          </a:p>
        </p:txBody>
      </p:sp>
      <p:pic>
        <p:nvPicPr>
          <p:cNvPr id="13" name="Image 1" descr="connector"/>
          <p:cNvPicPr>
            <a:picLocks noChangeAspect="1"/>
          </p:cNvPicPr>
          <p:nvPr/>
        </p:nvPicPr>
        <p:blipFill>
          <a:blip r:embed="rId3"/>
          <a:srcRect/>
          <a:stretch/>
        </p:blipFill>
        <p:spPr>
          <a:xfrm>
            <a:off x="5974080" y="2811145"/>
            <a:ext cx="254000" cy="101600"/>
          </a:xfrm>
          <a:prstGeom prst="rect">
            <a:avLst/>
          </a:prstGeom>
        </p:spPr>
      </p:pic>
      <p:sp>
        <p:nvSpPr>
          <p:cNvPr id="14" name="Shape 10"/>
          <p:cNvSpPr/>
          <p:nvPr/>
        </p:nvSpPr>
        <p:spPr>
          <a:xfrm>
            <a:off x="6332855" y="2055495"/>
            <a:ext cx="2294890" cy="1612900"/>
          </a:xfrm>
          <a:prstGeom prst="roundRect">
            <a:avLst>
              <a:gd name="adj" fmla="val 6102"/>
            </a:avLst>
          </a:prstGeom>
          <a:solidFill>
            <a:srgbClr val="FFFFFF"/>
          </a:solidFill>
          <a:ln w="6350">
            <a:solidFill>
              <a:srgbClr val="E2DED4"/>
            </a:solidFill>
            <a:prstDash val="solid"/>
          </a:ln>
        </p:spPr>
        <p:txBody>
          <a:bodyPr/>
          <a:lstStyle/>
          <a:p>
            <a:endParaRPr lang="nl-BE"/>
          </a:p>
        </p:txBody>
      </p:sp>
      <p:sp>
        <p:nvSpPr>
          <p:cNvPr id="15" name="Text 11"/>
          <p:cNvSpPr/>
          <p:nvPr/>
        </p:nvSpPr>
        <p:spPr>
          <a:xfrm>
            <a:off x="6537960" y="2260600"/>
            <a:ext cx="1941221"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01F"/>
                </a:solidFill>
                <a:latin typeface="Space Grotesk" pitchFamily="34" charset="0"/>
                <a:ea typeface="Space Grotesk" pitchFamily="34" charset="-122"/>
                <a:cs typeface="Space Grotesk" pitchFamily="34" charset="-120"/>
              </a:rPr>
              <a:t>3</a:t>
            </a:r>
            <a:endParaRPr lang="en-US" sz="2200" dirty="0"/>
          </a:p>
        </p:txBody>
      </p:sp>
      <p:sp>
        <p:nvSpPr>
          <p:cNvPr id="16" name="Text 12"/>
          <p:cNvSpPr/>
          <p:nvPr/>
        </p:nvSpPr>
        <p:spPr>
          <a:xfrm>
            <a:off x="6537960" y="2727961"/>
            <a:ext cx="194122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202B"/>
                </a:solidFill>
                <a:latin typeface="JetBrains Mono" pitchFamily="49" charset="0"/>
                <a:ea typeface="JetBrains Mono" pitchFamily="49" charset="-122"/>
                <a:cs typeface="JetBrains Mono" pitchFamily="49" charset="-120"/>
              </a:rPr>
              <a:t>bouw_context()</a:t>
            </a:r>
            <a:endParaRPr lang="en-US" sz="1200" dirty="0"/>
          </a:p>
        </p:txBody>
      </p:sp>
      <p:sp>
        <p:nvSpPr>
          <p:cNvPr id="17" name="Text 13"/>
          <p:cNvSpPr/>
          <p:nvPr/>
        </p:nvSpPr>
        <p:spPr>
          <a:xfrm>
            <a:off x="6537960" y="3017520"/>
            <a:ext cx="194122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0"/>
                </a:solidFill>
                <a:latin typeface="IBM Plex Sans" pitchFamily="34" charset="0"/>
                <a:ea typeface="IBM Plex Sans" pitchFamily="34" charset="-122"/>
                <a:cs typeface="IBM Plex Sans" pitchFamily="34" charset="-120"/>
              </a:rPr>
              <a:t>Zet de 5 lagen in één system prompt</a:t>
            </a:r>
            <a:endParaRPr lang="en-US" sz="1300" dirty="0"/>
          </a:p>
        </p:txBody>
      </p:sp>
      <p:pic>
        <p:nvPicPr>
          <p:cNvPr id="18" name="Image 2" descr="connector"/>
          <p:cNvPicPr>
            <a:picLocks noChangeAspect="1"/>
          </p:cNvPicPr>
          <p:nvPr/>
        </p:nvPicPr>
        <p:blipFill>
          <a:blip r:embed="rId3"/>
          <a:srcRect/>
          <a:stretch/>
        </p:blipFill>
        <p:spPr>
          <a:xfrm>
            <a:off x="8732520" y="2811145"/>
            <a:ext cx="254000" cy="101600"/>
          </a:xfrm>
          <a:prstGeom prst="rect">
            <a:avLst/>
          </a:prstGeom>
        </p:spPr>
      </p:pic>
      <p:sp>
        <p:nvSpPr>
          <p:cNvPr id="19" name="Shape 14"/>
          <p:cNvSpPr/>
          <p:nvPr/>
        </p:nvSpPr>
        <p:spPr>
          <a:xfrm>
            <a:off x="9088120" y="2042161"/>
            <a:ext cx="2291080" cy="1639570"/>
          </a:xfrm>
          <a:prstGeom prst="roundRect">
            <a:avLst>
              <a:gd name="adj" fmla="val 6197"/>
            </a:avLst>
          </a:prstGeom>
          <a:solidFill>
            <a:srgbClr val="15202B"/>
          </a:solidFill>
          <a:ln/>
        </p:spPr>
        <p:txBody>
          <a:bodyPr/>
          <a:lstStyle/>
          <a:p>
            <a:endParaRPr lang="nl-BE"/>
          </a:p>
        </p:txBody>
      </p:sp>
      <p:sp>
        <p:nvSpPr>
          <p:cNvPr id="20" name="Text 15"/>
          <p:cNvSpPr/>
          <p:nvPr/>
        </p:nvSpPr>
        <p:spPr>
          <a:xfrm>
            <a:off x="9291320" y="2245361"/>
            <a:ext cx="1941221"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A36B"/>
                </a:solidFill>
                <a:latin typeface="Space Grotesk" pitchFamily="34" charset="0"/>
                <a:ea typeface="Space Grotesk" pitchFamily="34" charset="-122"/>
                <a:cs typeface="Space Grotesk" pitchFamily="34" charset="-120"/>
              </a:rPr>
              <a:t>4</a:t>
            </a:r>
            <a:endParaRPr lang="en-US" sz="2200" dirty="0"/>
          </a:p>
        </p:txBody>
      </p:sp>
      <p:sp>
        <p:nvSpPr>
          <p:cNvPr id="21" name="Text 16"/>
          <p:cNvSpPr/>
          <p:nvPr/>
        </p:nvSpPr>
        <p:spPr>
          <a:xfrm>
            <a:off x="9291320" y="2712720"/>
            <a:ext cx="194122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Space Grotesk" pitchFamily="34" charset="0"/>
                <a:ea typeface="Space Grotesk" pitchFamily="34" charset="-122"/>
                <a:cs typeface="Space Grotesk" pitchFamily="34" charset="-120"/>
              </a:rPr>
              <a:t>Groq LLM</a:t>
            </a:r>
            <a:endParaRPr lang="en-US" sz="1600" dirty="0"/>
          </a:p>
        </p:txBody>
      </p:sp>
      <p:sp>
        <p:nvSpPr>
          <p:cNvPr id="22" name="Text 17"/>
          <p:cNvSpPr/>
          <p:nvPr/>
        </p:nvSpPr>
        <p:spPr>
          <a:xfrm>
            <a:off x="9291320" y="3032761"/>
            <a:ext cx="194122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9D2DB"/>
                </a:solidFill>
                <a:latin typeface="IBM Plex Sans" pitchFamily="34" charset="0"/>
                <a:ea typeface="IBM Plex Sans" pitchFamily="34" charset="-122"/>
                <a:cs typeface="IBM Plex Sans" pitchFamily="34" charset="-120"/>
              </a:rPr>
              <a:t>Prompt + chat van de sessie → antwoord</a:t>
            </a:r>
            <a:endParaRPr lang="en-US" sz="1300" dirty="0"/>
          </a:p>
        </p:txBody>
      </p:sp>
      <p:sp>
        <p:nvSpPr>
          <p:cNvPr id="23" name="Shape 18"/>
          <p:cNvSpPr/>
          <p:nvPr/>
        </p:nvSpPr>
        <p:spPr>
          <a:xfrm>
            <a:off x="812800" y="4093211"/>
            <a:ext cx="10566400" cy="853440"/>
          </a:xfrm>
          <a:prstGeom prst="roundRect">
            <a:avLst>
              <a:gd name="adj" fmla="val 11905"/>
            </a:avLst>
          </a:prstGeom>
          <a:solidFill>
            <a:srgbClr val="E6EEF6"/>
          </a:solidFill>
          <a:ln/>
        </p:spPr>
        <p:txBody>
          <a:bodyPr/>
          <a:lstStyle/>
          <a:p>
            <a:endParaRPr lang="nl-BE"/>
          </a:p>
        </p:txBody>
      </p:sp>
      <p:pic>
        <p:nvPicPr>
          <p:cNvPr id="24" name="Image 3" descr="Database"/>
          <p:cNvPicPr>
            <a:picLocks noChangeAspect="1"/>
          </p:cNvPicPr>
          <p:nvPr/>
        </p:nvPicPr>
        <p:blipFill>
          <a:blip r:embed="rId4"/>
          <a:srcRect t="-200" b="-200"/>
          <a:stretch/>
        </p:blipFill>
        <p:spPr>
          <a:xfrm>
            <a:off x="1041400" y="4380230"/>
            <a:ext cx="278289" cy="279400"/>
          </a:xfrm>
          <a:prstGeom prst="rect">
            <a:avLst/>
          </a:prstGeom>
        </p:spPr>
      </p:pic>
      <p:sp>
        <p:nvSpPr>
          <p:cNvPr id="25" name="Text 19"/>
          <p:cNvSpPr/>
          <p:nvPr/>
        </p:nvSpPr>
        <p:spPr>
          <a:xfrm>
            <a:off x="1472089" y="4271011"/>
            <a:ext cx="99688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A56"/>
                </a:solidFill>
                <a:latin typeface="IBM Plex Sans" pitchFamily="34" charset="0"/>
                <a:ea typeface="IBM Plex Sans" pitchFamily="34" charset="-122"/>
                <a:cs typeface="IBM Plex Sans" pitchFamily="34" charset="-120"/>
              </a:rPr>
              <a:t>Bij </a:t>
            </a:r>
            <a:r>
              <a:rPr lang="en-US" sz="1400" b="1" dirty="0">
                <a:solidFill>
                  <a:srgbClr val="1F3A56"/>
                </a:solidFill>
                <a:latin typeface="IBM Plex Sans" pitchFamily="34" charset="0"/>
                <a:ea typeface="IBM Plex Sans" pitchFamily="34" charset="-122"/>
                <a:cs typeface="IBM Plex Sans" pitchFamily="34" charset="-120"/>
              </a:rPr>
              <a:t>/stop</a:t>
            </a:r>
            <a:r>
              <a:rPr lang="en-US" sz="1400" dirty="0">
                <a:solidFill>
                  <a:srgbClr val="1F3A56"/>
                </a:solidFill>
                <a:latin typeface="IBM Plex Sans" pitchFamily="34" charset="0"/>
                <a:ea typeface="IBM Plex Sans" pitchFamily="34" charset="-122"/>
                <a:cs typeface="IBM Plex Sans" pitchFamily="34" charset="-120"/>
              </a:rPr>
              <a:t> schrijft </a:t>
            </a:r>
            <a:r>
              <a:rPr lang="en-US" sz="1400" b="1" dirty="0">
                <a:solidFill>
                  <a:srgbClr val="2E6DA4"/>
                </a:solidFill>
                <a:latin typeface="IBM Plex Sans" pitchFamily="34" charset="0"/>
                <a:ea typeface="IBM Plex Sans" pitchFamily="34" charset="-122"/>
                <a:cs typeface="IBM Plex Sans" pitchFamily="34" charset="-120"/>
              </a:rPr>
              <a:t>bewaar_geheugen()</a:t>
            </a:r>
            <a:r>
              <a:rPr lang="en-US" sz="1400" dirty="0">
                <a:solidFill>
                  <a:srgbClr val="1F3A56"/>
                </a:solidFill>
                <a:latin typeface="IBM Plex Sans" pitchFamily="34" charset="0"/>
                <a:ea typeface="IBM Plex Sans" pitchFamily="34" charset="-122"/>
                <a:cs typeface="IBM Plex Sans" pitchFamily="34" charset="-120"/>
              </a:rPr>
              <a:t> naam, aantal sessies, laatste bezoek en de laatste 5 vragen weg naar geheugen.json.</a:t>
            </a:r>
            <a:endParaRPr lang="en-US" sz="1400" dirty="0"/>
          </a:p>
        </p:txBody>
      </p:sp>
      <p:sp>
        <p:nvSpPr>
          <p:cNvPr id="26" name="Text 20"/>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7A828E"/>
                </a:solidFill>
                <a:latin typeface="IBM Plex Sans" pitchFamily="34" charset="0"/>
                <a:ea typeface="IBM Plex Sans" pitchFamily="34" charset="-122"/>
                <a:cs typeface="IBM Plex Sans" pitchFamily="34" charset="-120"/>
              </a:rPr>
              <a:t>StudieBuddy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501F"/>
                </a:solidFill>
                <a:latin typeface="JetBrains Mono" pitchFamily="49" charset="0"/>
                <a:ea typeface="JetBrains Mono" pitchFamily="49" charset="-122"/>
                <a:cs typeface="JetBrains Mono" pitchFamily="49" charset="-120"/>
              </a:rPr>
              <a:t>02 · HOE HET WERKT</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5202B"/>
                </a:solidFill>
                <a:latin typeface="Space Grotesk" pitchFamily="34" charset="0"/>
                <a:ea typeface="Space Grotesk" pitchFamily="34" charset="-122"/>
                <a:cs typeface="Space Grotesk" pitchFamily="34" charset="-120"/>
              </a:rPr>
              <a:t>Bewijs: context verandert het gedrag</a:t>
            </a:r>
            <a:endParaRPr lang="en-US" sz="3600" dirty="0"/>
          </a:p>
        </p:txBody>
      </p:sp>
      <p:sp>
        <p:nvSpPr>
          <p:cNvPr id="4" name="Text 2"/>
          <p:cNvSpPr/>
          <p:nvPr/>
        </p:nvSpPr>
        <p:spPr>
          <a:xfrm>
            <a:off x="812800" y="1884682"/>
            <a:ext cx="1899920" cy="340360"/>
          </a:xfrm>
          <a:prstGeom prst="roundRect">
            <a:avLst>
              <a:gd name="adj" fmla="val 14925"/>
            </a:avLst>
          </a:prstGeom>
          <a:solidFill>
            <a:srgbClr val="15202B"/>
          </a:solidFill>
          <a:ln/>
        </p:spPr>
        <p:txBody>
          <a:bodyPr wrap="none" lIns="0" tIns="0" rIns="0" bIns="0" rtlCol="0" anchor="ctr">
            <a:normAutofit/>
          </a:bodyPr>
          <a:lstStyle/>
          <a:p>
            <a:pPr marL="0" indent="0" algn="ctr">
              <a:lnSpc>
                <a:spcPts val="1680"/>
              </a:lnSpc>
              <a:buNone/>
            </a:pPr>
            <a:r>
              <a:rPr lang="en-US" sz="1200" dirty="0">
                <a:solidFill>
                  <a:srgbClr val="F5F3EE"/>
                </a:solidFill>
                <a:latin typeface="JetBrains Mono" pitchFamily="49" charset="0"/>
                <a:ea typeface="JetBrains Mono" pitchFamily="49" charset="-122"/>
                <a:cs typeface="JetBrains Mono" pitchFamily="49" charset="-120"/>
              </a:rPr>
              <a:t>/context aan | uit</a:t>
            </a:r>
            <a:endParaRPr lang="en-US" sz="1200" dirty="0"/>
          </a:p>
        </p:txBody>
      </p:sp>
      <p:sp>
        <p:nvSpPr>
          <p:cNvPr id="5" name="Text 3"/>
          <p:cNvSpPr/>
          <p:nvPr/>
        </p:nvSpPr>
        <p:spPr>
          <a:xfrm>
            <a:off x="2814320" y="1884682"/>
            <a:ext cx="711200" cy="340360"/>
          </a:xfrm>
          <a:prstGeom prst="roundRect">
            <a:avLst>
              <a:gd name="adj" fmla="val 14925"/>
            </a:avLst>
          </a:prstGeom>
          <a:solidFill>
            <a:srgbClr val="15202B"/>
          </a:solidFill>
          <a:ln/>
        </p:spPr>
        <p:txBody>
          <a:bodyPr wrap="none" lIns="0" tIns="0" rIns="0" bIns="0" rtlCol="0" anchor="ctr">
            <a:normAutofit/>
          </a:bodyPr>
          <a:lstStyle/>
          <a:p>
            <a:pPr marL="0" indent="0" algn="ctr">
              <a:lnSpc>
                <a:spcPts val="1680"/>
              </a:lnSpc>
              <a:buNone/>
            </a:pPr>
            <a:r>
              <a:rPr lang="en-US" sz="1200" dirty="0">
                <a:solidFill>
                  <a:srgbClr val="F5F3EE"/>
                </a:solidFill>
                <a:latin typeface="JetBrains Mono" pitchFamily="49" charset="0"/>
                <a:ea typeface="JetBrains Mono" pitchFamily="49" charset="-122"/>
                <a:cs typeface="JetBrains Mono" pitchFamily="49" charset="-120"/>
              </a:rPr>
              <a:t>/toon</a:t>
            </a:r>
            <a:endParaRPr lang="en-US" sz="1200" dirty="0"/>
          </a:p>
        </p:txBody>
      </p:sp>
      <p:sp>
        <p:nvSpPr>
          <p:cNvPr id="6" name="Text 4"/>
          <p:cNvSpPr/>
          <p:nvPr/>
        </p:nvSpPr>
        <p:spPr>
          <a:xfrm>
            <a:off x="3627120" y="1884682"/>
            <a:ext cx="711200" cy="340360"/>
          </a:xfrm>
          <a:prstGeom prst="roundRect">
            <a:avLst>
              <a:gd name="adj" fmla="val 14925"/>
            </a:avLst>
          </a:prstGeom>
          <a:solidFill>
            <a:srgbClr val="15202B"/>
          </a:solidFill>
          <a:ln/>
        </p:spPr>
        <p:txBody>
          <a:bodyPr wrap="none" lIns="0" tIns="0" rIns="0" bIns="0" rtlCol="0" anchor="ctr">
            <a:normAutofit/>
          </a:bodyPr>
          <a:lstStyle/>
          <a:p>
            <a:pPr marL="0" indent="0" algn="ctr">
              <a:lnSpc>
                <a:spcPts val="1680"/>
              </a:lnSpc>
              <a:buNone/>
            </a:pPr>
            <a:r>
              <a:rPr lang="en-US" sz="1200" dirty="0">
                <a:solidFill>
                  <a:srgbClr val="F5F3EE"/>
                </a:solidFill>
                <a:latin typeface="JetBrains Mono" pitchFamily="49" charset="0"/>
                <a:ea typeface="JetBrains Mono" pitchFamily="49" charset="-122"/>
                <a:cs typeface="JetBrains Mono" pitchFamily="49" charset="-120"/>
              </a:rPr>
              <a:t>/stop</a:t>
            </a:r>
            <a:endParaRPr lang="en-US" sz="1200" dirty="0"/>
          </a:p>
        </p:txBody>
      </p:sp>
      <p:sp>
        <p:nvSpPr>
          <p:cNvPr id="7" name="Text 5"/>
          <p:cNvSpPr/>
          <p:nvPr/>
        </p:nvSpPr>
        <p:spPr>
          <a:xfrm>
            <a:off x="812800" y="247903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3644"/>
                </a:solidFill>
                <a:latin typeface="JetBrains Mono" pitchFamily="49" charset="0"/>
                <a:ea typeface="JetBrains Mono" pitchFamily="49" charset="-122"/>
                <a:cs typeface="JetBrains Mono" pitchFamily="49" charset="-120"/>
              </a:rPr>
              <a:t>Jij: wie is mijn docent trends ai</a:t>
            </a:r>
            <a:endParaRPr lang="en-US" sz="1400" dirty="0"/>
          </a:p>
        </p:txBody>
      </p:sp>
      <p:sp>
        <p:nvSpPr>
          <p:cNvPr id="8" name="Shape 6"/>
          <p:cNvSpPr/>
          <p:nvPr/>
        </p:nvSpPr>
        <p:spPr>
          <a:xfrm>
            <a:off x="815975" y="2985136"/>
            <a:ext cx="5180330" cy="2853690"/>
          </a:xfrm>
          <a:prstGeom prst="roundRect">
            <a:avLst>
              <a:gd name="adj" fmla="val 3449"/>
            </a:avLst>
          </a:prstGeom>
          <a:solidFill>
            <a:srgbClr val="FFFFFF"/>
          </a:solidFill>
          <a:ln w="6350">
            <a:solidFill>
              <a:srgbClr val="E2DED4"/>
            </a:solidFill>
            <a:prstDash val="solid"/>
          </a:ln>
        </p:spPr>
        <p:txBody>
          <a:bodyPr/>
          <a:lstStyle/>
          <a:p>
            <a:endParaRPr lang="nl-BE"/>
          </a:p>
        </p:txBody>
      </p:sp>
      <p:sp>
        <p:nvSpPr>
          <p:cNvPr id="9" name="Text 7"/>
          <p:cNvSpPr/>
          <p:nvPr/>
        </p:nvSpPr>
        <p:spPr>
          <a:xfrm>
            <a:off x="1046480" y="3215639"/>
            <a:ext cx="486090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4A5260"/>
                </a:solidFill>
                <a:latin typeface="Space Grotesk" pitchFamily="34" charset="0"/>
                <a:ea typeface="Space Grotesk" pitchFamily="34" charset="-122"/>
                <a:cs typeface="Space Grotesk" pitchFamily="34" charset="-120"/>
              </a:rPr>
              <a:t>Context UIT</a:t>
            </a:r>
            <a:endParaRPr lang="en-US" sz="1800" dirty="0"/>
          </a:p>
        </p:txBody>
      </p:sp>
      <p:sp>
        <p:nvSpPr>
          <p:cNvPr id="10" name="Text 8"/>
          <p:cNvSpPr/>
          <p:nvPr/>
        </p:nvSpPr>
        <p:spPr>
          <a:xfrm>
            <a:off x="1046480" y="3591561"/>
            <a:ext cx="48609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System prompt: enkel "Je bent een behulpzame assistent." Geen chatgeschiedenis.</a:t>
            </a:r>
            <a:endParaRPr lang="en-US" sz="1400" dirty="0"/>
          </a:p>
        </p:txBody>
      </p:sp>
      <p:sp>
        <p:nvSpPr>
          <p:cNvPr id="11" name="Text 9"/>
          <p:cNvSpPr/>
          <p:nvPr/>
        </p:nvSpPr>
        <p:spPr>
          <a:xfrm>
            <a:off x="1046480" y="4191000"/>
            <a:ext cx="48609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3644"/>
                </a:solidFill>
                <a:latin typeface="IBM Plex Sans" pitchFamily="34" charset="0"/>
                <a:ea typeface="IBM Plex Sans" pitchFamily="34" charset="-122"/>
                <a:cs typeface="IBM Plex Sans" pitchFamily="34" charset="-120"/>
              </a:rPr>
              <a:t>Het model kent mij en mijn opleiding niet, dus het moet raden of zeggen dat het dit niet weet.</a:t>
            </a:r>
            <a:endParaRPr lang="en-US" sz="1400" dirty="0"/>
          </a:p>
        </p:txBody>
      </p:sp>
      <p:sp>
        <p:nvSpPr>
          <p:cNvPr id="12" name="Shape 10"/>
          <p:cNvSpPr/>
          <p:nvPr/>
        </p:nvSpPr>
        <p:spPr>
          <a:xfrm>
            <a:off x="6202680" y="2981961"/>
            <a:ext cx="5176520" cy="2860040"/>
          </a:xfrm>
          <a:prstGeom prst="roundRect">
            <a:avLst>
              <a:gd name="adj" fmla="val 3552"/>
            </a:avLst>
          </a:prstGeom>
          <a:solidFill>
            <a:srgbClr val="15202B"/>
          </a:solidFill>
          <a:ln/>
        </p:spPr>
        <p:txBody>
          <a:bodyPr/>
          <a:lstStyle/>
          <a:p>
            <a:endParaRPr lang="nl-BE"/>
          </a:p>
        </p:txBody>
      </p:sp>
      <p:sp>
        <p:nvSpPr>
          <p:cNvPr id="13" name="Text 11"/>
          <p:cNvSpPr/>
          <p:nvPr/>
        </p:nvSpPr>
        <p:spPr>
          <a:xfrm>
            <a:off x="6431280" y="3210561"/>
            <a:ext cx="486090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A36B"/>
                </a:solidFill>
                <a:latin typeface="Space Grotesk" pitchFamily="34" charset="0"/>
                <a:ea typeface="Space Grotesk" pitchFamily="34" charset="-122"/>
                <a:cs typeface="Space Grotesk" pitchFamily="34" charset="-120"/>
              </a:rPr>
              <a:t>Context AAN</a:t>
            </a:r>
            <a:endParaRPr lang="en-US" sz="1800" dirty="0"/>
          </a:p>
        </p:txBody>
      </p:sp>
      <p:sp>
        <p:nvSpPr>
          <p:cNvPr id="14" name="Text 12"/>
          <p:cNvSpPr/>
          <p:nvPr/>
        </p:nvSpPr>
        <p:spPr>
          <a:xfrm>
            <a:off x="6431280" y="3586482"/>
            <a:ext cx="48609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2DB"/>
                </a:solidFill>
                <a:latin typeface="IBM Plex Sans" pitchFamily="34" charset="0"/>
                <a:ea typeface="IBM Plex Sans" pitchFamily="34" charset="-122"/>
                <a:cs typeface="IBM Plex Sans" pitchFamily="34" charset="-120"/>
              </a:rPr>
              <a:t>Rol, tijd, gebruiker, sessie en de fiche van Trends in AI zitten in de prompt.</a:t>
            </a:r>
            <a:endParaRPr lang="en-US" sz="1400" dirty="0"/>
          </a:p>
        </p:txBody>
      </p:sp>
      <p:sp>
        <p:nvSpPr>
          <p:cNvPr id="15" name="Text 13"/>
          <p:cNvSpPr/>
          <p:nvPr/>
        </p:nvSpPr>
        <p:spPr>
          <a:xfrm>
            <a:off x="6431280" y="4185921"/>
            <a:ext cx="48609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3EE"/>
                </a:solidFill>
                <a:latin typeface="IBM Plex Sans" pitchFamily="34" charset="0"/>
                <a:ea typeface="IBM Plex Sans" pitchFamily="34" charset="-122"/>
                <a:cs typeface="IBM Plex Sans" pitchFamily="34" charset="-120"/>
              </a:rPr>
              <a:t>Spreekt Jonas aan bij naam en noemt titularis Hassan Haddouchi, uit de ECTS-fiche.</a:t>
            </a:r>
            <a:endParaRPr lang="en-US" sz="14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7A828E"/>
                </a:solidFill>
                <a:latin typeface="IBM Plex Sans" pitchFamily="34" charset="0"/>
                <a:ea typeface="IBM Plex Sans" pitchFamily="34" charset="-122"/>
                <a:cs typeface="IBM Plex Sans" pitchFamily="34" charset="-120"/>
              </a:rPr>
              <a:t>StudieBuddy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501F"/>
                </a:solidFill>
                <a:latin typeface="JetBrains Mono" pitchFamily="49" charset="0"/>
                <a:ea typeface="JetBrains Mono" pitchFamily="49" charset="-122"/>
                <a:cs typeface="JetBrains Mono" pitchFamily="49" charset="-120"/>
              </a:rPr>
              <a:t>03 · UITBREIDING MET MCP</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5202B"/>
                </a:solidFill>
                <a:latin typeface="Space Grotesk" pitchFamily="34" charset="0"/>
                <a:ea typeface="Space Grotesk" pitchFamily="34" charset="-122"/>
                <a:cs typeface="Space Grotesk" pitchFamily="34" charset="-120"/>
              </a:rPr>
              <a:t>Idee: een WebUntis-MCP-server</a:t>
            </a:r>
            <a:endParaRPr lang="en-US" sz="3600" dirty="0"/>
          </a:p>
        </p:txBody>
      </p:sp>
      <p:sp>
        <p:nvSpPr>
          <p:cNvPr id="4" name="Text 2"/>
          <p:cNvSpPr/>
          <p:nvPr/>
        </p:nvSpPr>
        <p:spPr>
          <a:xfrm>
            <a:off x="812800" y="1732282"/>
            <a:ext cx="108833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4501F"/>
                </a:solidFill>
                <a:latin typeface="IBM Plex Sans" pitchFamily="34" charset="0"/>
                <a:ea typeface="IBM Plex Sans" pitchFamily="34" charset="-122"/>
                <a:cs typeface="IBM Plex Sans" pitchFamily="34" charset="-120"/>
              </a:rPr>
              <a:t>Probleem:</a:t>
            </a:r>
            <a:r>
              <a:rPr lang="en-US" sz="1500" dirty="0">
                <a:solidFill>
                  <a:srgbClr val="4A5260"/>
                </a:solidFill>
                <a:latin typeface="IBM Plex Sans" pitchFamily="34" charset="0"/>
                <a:ea typeface="IBM Plex Sans" pitchFamily="34" charset="-122"/>
                <a:cs typeface="IBM Plex Sans" pitchFamily="34" charset="-120"/>
              </a:rPr>
              <a:t> StudieBuddy weet wélke vakken ik heb, maar niet wánneer. Een MCP-server biedt tools aan; het model beslist zelf wanneer het er een nodig heeft.</a:t>
            </a:r>
            <a:endParaRPr lang="en-US" sz="1500" dirty="0"/>
          </a:p>
        </p:txBody>
      </p:sp>
      <p:sp>
        <p:nvSpPr>
          <p:cNvPr id="5" name="Shape 3"/>
          <p:cNvSpPr/>
          <p:nvPr/>
        </p:nvSpPr>
        <p:spPr>
          <a:xfrm>
            <a:off x="812800" y="2753996"/>
            <a:ext cx="2794000" cy="1522730"/>
          </a:xfrm>
          <a:prstGeom prst="roundRect">
            <a:avLst>
              <a:gd name="adj" fmla="val 6672"/>
            </a:avLst>
          </a:prstGeom>
          <a:solidFill>
            <a:srgbClr val="15202B"/>
          </a:solidFill>
          <a:ln/>
        </p:spPr>
        <p:txBody>
          <a:bodyPr/>
          <a:lstStyle/>
          <a:p>
            <a:endParaRPr lang="nl-BE"/>
          </a:p>
        </p:txBody>
      </p:sp>
      <p:sp>
        <p:nvSpPr>
          <p:cNvPr id="6" name="Text 4"/>
          <p:cNvSpPr/>
          <p:nvPr/>
        </p:nvSpPr>
        <p:spPr>
          <a:xfrm>
            <a:off x="1016000" y="2957196"/>
            <a:ext cx="24592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A36B"/>
                </a:solidFill>
                <a:latin typeface="JetBrains Mono" pitchFamily="49" charset="0"/>
                <a:ea typeface="JetBrains Mono" pitchFamily="49" charset="-122"/>
                <a:cs typeface="JetBrains Mono" pitchFamily="49" charset="-120"/>
              </a:rPr>
              <a:t>MCP-CLIENT</a:t>
            </a:r>
            <a:endParaRPr lang="en-US" sz="1200" dirty="0"/>
          </a:p>
        </p:txBody>
      </p:sp>
      <p:sp>
        <p:nvSpPr>
          <p:cNvPr id="7" name="Text 5"/>
          <p:cNvSpPr/>
          <p:nvPr/>
        </p:nvSpPr>
        <p:spPr>
          <a:xfrm>
            <a:off x="1016000" y="3246757"/>
            <a:ext cx="245922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3EE"/>
                </a:solidFill>
                <a:latin typeface="Space Grotesk" pitchFamily="34" charset="0"/>
                <a:ea typeface="Space Grotesk" pitchFamily="34" charset="-122"/>
                <a:cs typeface="Space Grotesk" pitchFamily="34" charset="-120"/>
              </a:rPr>
              <a:t>StudieBuddy</a:t>
            </a:r>
            <a:endParaRPr lang="en-US" sz="2000" dirty="0"/>
          </a:p>
        </p:txBody>
      </p:sp>
      <p:sp>
        <p:nvSpPr>
          <p:cNvPr id="8" name="Text 6"/>
          <p:cNvSpPr/>
          <p:nvPr/>
        </p:nvSpPr>
        <p:spPr>
          <a:xfrm>
            <a:off x="1016000" y="3627757"/>
            <a:ext cx="245922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9D2DB"/>
                </a:solidFill>
                <a:latin typeface="IBM Plex Sans" pitchFamily="34" charset="0"/>
                <a:ea typeface="IBM Plex Sans" pitchFamily="34" charset="-122"/>
                <a:cs typeface="IBM Plex Sans" pitchFamily="34" charset="-120"/>
              </a:rPr>
              <a:t>Groq LLM + bestaand geheugen en fiches</a:t>
            </a:r>
            <a:endParaRPr lang="en-US" sz="1300" dirty="0"/>
          </a:p>
        </p:txBody>
      </p:sp>
      <p:sp>
        <p:nvSpPr>
          <p:cNvPr id="9" name="Text 7"/>
          <p:cNvSpPr/>
          <p:nvPr/>
        </p:nvSpPr>
        <p:spPr>
          <a:xfrm>
            <a:off x="3848608" y="3332482"/>
            <a:ext cx="32918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4501F"/>
                </a:solidFill>
                <a:latin typeface="JetBrains Mono" pitchFamily="49" charset="0"/>
                <a:ea typeface="JetBrains Mono" pitchFamily="49" charset="-122"/>
                <a:cs typeface="JetBrains Mono" pitchFamily="49" charset="-120"/>
              </a:rPr>
              <a:t>MCP</a:t>
            </a:r>
            <a:endParaRPr lang="en-US" sz="1200" dirty="0"/>
          </a:p>
        </p:txBody>
      </p:sp>
      <p:pic>
        <p:nvPicPr>
          <p:cNvPr id="10" name="Image 0" descr="connector"/>
          <p:cNvPicPr>
            <a:picLocks noChangeAspect="1"/>
          </p:cNvPicPr>
          <p:nvPr/>
        </p:nvPicPr>
        <p:blipFill>
          <a:blip r:embed="rId3"/>
          <a:srcRect/>
          <a:stretch/>
        </p:blipFill>
        <p:spPr>
          <a:xfrm>
            <a:off x="3708400" y="3596639"/>
            <a:ext cx="609600" cy="101600"/>
          </a:xfrm>
          <a:prstGeom prst="rect">
            <a:avLst/>
          </a:prstGeom>
        </p:spPr>
      </p:pic>
      <p:sp>
        <p:nvSpPr>
          <p:cNvPr id="11" name="Shape 8"/>
          <p:cNvSpPr/>
          <p:nvPr/>
        </p:nvSpPr>
        <p:spPr>
          <a:xfrm>
            <a:off x="4425950" y="2551432"/>
            <a:ext cx="4991100" cy="1927860"/>
          </a:xfrm>
          <a:prstGeom prst="roundRect">
            <a:avLst>
              <a:gd name="adj" fmla="val 4941"/>
            </a:avLst>
          </a:prstGeom>
          <a:solidFill>
            <a:srgbClr val="FFFFFF"/>
          </a:solidFill>
          <a:ln w="12700">
            <a:solidFill>
              <a:srgbClr val="B4501F"/>
            </a:solidFill>
            <a:prstDash val="solid"/>
          </a:ln>
        </p:spPr>
        <p:txBody>
          <a:bodyPr/>
          <a:lstStyle/>
          <a:p>
            <a:endParaRPr lang="nl-BE"/>
          </a:p>
        </p:txBody>
      </p:sp>
      <p:sp>
        <p:nvSpPr>
          <p:cNvPr id="12" name="Text 9"/>
          <p:cNvSpPr/>
          <p:nvPr/>
        </p:nvSpPr>
        <p:spPr>
          <a:xfrm>
            <a:off x="4632960" y="2758439"/>
            <a:ext cx="4714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501F"/>
                </a:solidFill>
                <a:latin typeface="JetBrains Mono" pitchFamily="49" charset="0"/>
                <a:ea typeface="JetBrains Mono" pitchFamily="49" charset="-122"/>
                <a:cs typeface="JetBrains Mono" pitchFamily="49" charset="-120"/>
              </a:rPr>
              <a:t>MCP-SERVER</a:t>
            </a:r>
            <a:endParaRPr lang="en-US" sz="1200" dirty="0"/>
          </a:p>
        </p:txBody>
      </p:sp>
      <p:sp>
        <p:nvSpPr>
          <p:cNvPr id="13" name="Text 10"/>
          <p:cNvSpPr/>
          <p:nvPr/>
        </p:nvSpPr>
        <p:spPr>
          <a:xfrm>
            <a:off x="4632960" y="3060700"/>
            <a:ext cx="47143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02B"/>
                </a:solidFill>
                <a:latin typeface="Space Grotesk" pitchFamily="34" charset="0"/>
                <a:ea typeface="Space Grotesk" pitchFamily="34" charset="-122"/>
                <a:cs typeface="Space Grotesk" pitchFamily="34" charset="-120"/>
              </a:rPr>
              <a:t>WebUntis-MCP</a:t>
            </a:r>
            <a:endParaRPr lang="en-US" sz="2000" dirty="0"/>
          </a:p>
        </p:txBody>
      </p:sp>
      <p:sp>
        <p:nvSpPr>
          <p:cNvPr id="14" name="Text 11"/>
          <p:cNvSpPr/>
          <p:nvPr/>
        </p:nvSpPr>
        <p:spPr>
          <a:xfrm>
            <a:off x="4632960" y="3454400"/>
            <a:ext cx="4714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5202B"/>
                </a:solidFill>
                <a:latin typeface="JetBrains Mono" pitchFamily="49" charset="0"/>
                <a:ea typeface="JetBrains Mono" pitchFamily="49" charset="-122"/>
                <a:cs typeface="JetBrains Mono" pitchFamily="49" charset="-120"/>
              </a:rPr>
              <a:t>get_rooster(datum) </a:t>
            </a:r>
            <a:r>
              <a:rPr lang="en-US" sz="1200" dirty="0">
                <a:solidFill>
                  <a:srgbClr val="4A5260"/>
                </a:solidFill>
                <a:latin typeface="JetBrains Mono" pitchFamily="49" charset="0"/>
                <a:ea typeface="JetBrains Mono" pitchFamily="49" charset="-122"/>
                <a:cs typeface="JetBrains Mono" pitchFamily="49" charset="-120"/>
              </a:rPr>
              <a:t>→ lessen van een dag</a:t>
            </a:r>
            <a:endParaRPr lang="en-US" sz="1200" dirty="0"/>
          </a:p>
        </p:txBody>
      </p:sp>
      <p:sp>
        <p:nvSpPr>
          <p:cNvPr id="15" name="Text 12"/>
          <p:cNvSpPr/>
          <p:nvPr/>
        </p:nvSpPr>
        <p:spPr>
          <a:xfrm>
            <a:off x="4632960" y="3756661"/>
            <a:ext cx="4714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5202B"/>
                </a:solidFill>
                <a:latin typeface="JetBrains Mono" pitchFamily="49" charset="0"/>
                <a:ea typeface="JetBrains Mono" pitchFamily="49" charset="-122"/>
                <a:cs typeface="JetBrains Mono" pitchFamily="49" charset="-120"/>
              </a:rPr>
              <a:t>get_volgende_les() </a:t>
            </a:r>
            <a:r>
              <a:rPr lang="en-US" sz="1200" dirty="0">
                <a:solidFill>
                  <a:srgbClr val="4A5260"/>
                </a:solidFill>
                <a:latin typeface="JetBrains Mono" pitchFamily="49" charset="0"/>
                <a:ea typeface="JetBrains Mono" pitchFamily="49" charset="-122"/>
                <a:cs typeface="JetBrains Mono" pitchFamily="49" charset="-120"/>
              </a:rPr>
              <a:t>→ eerstvolgende les</a:t>
            </a:r>
            <a:endParaRPr lang="en-US" sz="1200" dirty="0"/>
          </a:p>
        </p:txBody>
      </p:sp>
      <p:sp>
        <p:nvSpPr>
          <p:cNvPr id="16" name="Text 13"/>
          <p:cNvSpPr/>
          <p:nvPr/>
        </p:nvSpPr>
        <p:spPr>
          <a:xfrm>
            <a:off x="4632960" y="4058921"/>
            <a:ext cx="4714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5202B"/>
                </a:solidFill>
                <a:latin typeface="JetBrains Mono" pitchFamily="49" charset="0"/>
                <a:ea typeface="JetBrains Mono" pitchFamily="49" charset="-122"/>
                <a:cs typeface="JetBrains Mono" pitchFamily="49" charset="-120"/>
              </a:rPr>
              <a:t>get_wijzigingen() </a:t>
            </a:r>
            <a:r>
              <a:rPr lang="en-US" sz="1200" dirty="0">
                <a:solidFill>
                  <a:srgbClr val="4A5260"/>
                </a:solidFill>
                <a:latin typeface="JetBrains Mono" pitchFamily="49" charset="0"/>
                <a:ea typeface="JetBrains Mono" pitchFamily="49" charset="-122"/>
                <a:cs typeface="JetBrains Mono" pitchFamily="49" charset="-120"/>
              </a:rPr>
              <a:t>→ uitval, lokalen</a:t>
            </a:r>
            <a:endParaRPr lang="en-US" sz="1200" dirty="0"/>
          </a:p>
        </p:txBody>
      </p:sp>
      <p:pic>
        <p:nvPicPr>
          <p:cNvPr id="17" name="Image 1" descr="connector"/>
          <p:cNvPicPr>
            <a:picLocks noChangeAspect="1"/>
          </p:cNvPicPr>
          <p:nvPr/>
        </p:nvPicPr>
        <p:blipFill>
          <a:blip r:embed="rId4"/>
          <a:srcRect/>
          <a:stretch/>
        </p:blipFill>
        <p:spPr>
          <a:xfrm>
            <a:off x="9525000" y="3464561"/>
            <a:ext cx="355600" cy="101600"/>
          </a:xfrm>
          <a:prstGeom prst="rect">
            <a:avLst/>
          </a:prstGeom>
        </p:spPr>
      </p:pic>
      <p:sp>
        <p:nvSpPr>
          <p:cNvPr id="18" name="Shape 14"/>
          <p:cNvSpPr/>
          <p:nvPr/>
        </p:nvSpPr>
        <p:spPr>
          <a:xfrm>
            <a:off x="9982200" y="2875282"/>
            <a:ext cx="1397000" cy="1280160"/>
          </a:xfrm>
          <a:prstGeom prst="roundRect">
            <a:avLst>
              <a:gd name="adj" fmla="val 7937"/>
            </a:avLst>
          </a:prstGeom>
          <a:solidFill>
            <a:srgbClr val="E6EEF6"/>
          </a:solidFill>
          <a:ln/>
        </p:spPr>
        <p:txBody>
          <a:bodyPr/>
          <a:lstStyle/>
          <a:p>
            <a:endParaRPr lang="nl-BE"/>
          </a:p>
        </p:txBody>
      </p:sp>
      <p:pic>
        <p:nvPicPr>
          <p:cNvPr id="19" name="Image 2" descr="Clock"/>
          <p:cNvPicPr>
            <a:picLocks noChangeAspect="1"/>
          </p:cNvPicPr>
          <p:nvPr/>
        </p:nvPicPr>
        <p:blipFill>
          <a:blip r:embed="rId5"/>
          <a:srcRect/>
          <a:stretch/>
        </p:blipFill>
        <p:spPr>
          <a:xfrm>
            <a:off x="10502900" y="3053082"/>
            <a:ext cx="355600" cy="355600"/>
          </a:xfrm>
          <a:prstGeom prst="rect">
            <a:avLst/>
          </a:prstGeom>
        </p:spPr>
      </p:pic>
      <p:sp>
        <p:nvSpPr>
          <p:cNvPr id="20" name="Text 15"/>
          <p:cNvSpPr/>
          <p:nvPr/>
        </p:nvSpPr>
        <p:spPr>
          <a:xfrm>
            <a:off x="10151785" y="3472182"/>
            <a:ext cx="1057751" cy="254000"/>
          </a:xfrm>
          <a:prstGeom prst="rect">
            <a:avLst/>
          </a:prstGeom>
          <a:noFill/>
          <a:ln/>
        </p:spPr>
        <p:txBody>
          <a:bodyPr wrap="square" lIns="0" tIns="0" rIns="0" bIns="0" rtlCol="0" anchor="t">
            <a:normAutofit/>
          </a:bodyPr>
          <a:lstStyle/>
          <a:p>
            <a:pPr marL="0" indent="0" algn="ctr">
              <a:lnSpc>
                <a:spcPts val="1800"/>
              </a:lnSpc>
              <a:buNone/>
            </a:pPr>
            <a:r>
              <a:rPr lang="en-US" sz="1500" b="1" dirty="0">
                <a:solidFill>
                  <a:srgbClr val="1F3A56"/>
                </a:solidFill>
                <a:latin typeface="Space Grotesk" pitchFamily="34" charset="0"/>
                <a:ea typeface="Space Grotesk" pitchFamily="34" charset="-122"/>
                <a:cs typeface="Space Grotesk" pitchFamily="34" charset="-120"/>
              </a:rPr>
              <a:t>WebUntis</a:t>
            </a:r>
            <a:endParaRPr lang="en-US" sz="1500" dirty="0"/>
          </a:p>
        </p:txBody>
      </p:sp>
      <p:sp>
        <p:nvSpPr>
          <p:cNvPr id="21" name="Text 16"/>
          <p:cNvSpPr/>
          <p:nvPr/>
        </p:nvSpPr>
        <p:spPr>
          <a:xfrm>
            <a:off x="10221984" y="3764282"/>
            <a:ext cx="917353"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F3A56"/>
                </a:solidFill>
                <a:latin typeface="IBM Plex Sans" pitchFamily="34" charset="0"/>
                <a:ea typeface="IBM Plex Sans" pitchFamily="34" charset="-122"/>
                <a:cs typeface="IBM Plex Sans" pitchFamily="34" charset="-120"/>
              </a:rPr>
              <a:t>live rooster</a:t>
            </a:r>
            <a:endParaRPr lang="en-US" sz="1200" dirty="0"/>
          </a:p>
        </p:txBody>
      </p:sp>
      <p:sp>
        <p:nvSpPr>
          <p:cNvPr id="22" name="Shape 17"/>
          <p:cNvSpPr/>
          <p:nvPr/>
        </p:nvSpPr>
        <p:spPr>
          <a:xfrm>
            <a:off x="812800" y="4765042"/>
            <a:ext cx="10566400" cy="635000"/>
          </a:xfrm>
          <a:prstGeom prst="roundRect">
            <a:avLst>
              <a:gd name="adj" fmla="val 16000"/>
            </a:avLst>
          </a:prstGeom>
          <a:solidFill>
            <a:srgbClr val="15202B"/>
          </a:solidFill>
          <a:ln/>
        </p:spPr>
        <p:txBody>
          <a:bodyPr/>
          <a:lstStyle/>
          <a:p>
            <a:endParaRPr lang="nl-BE"/>
          </a:p>
        </p:txBody>
      </p:sp>
      <p:pic>
        <p:nvPicPr>
          <p:cNvPr id="23" name="Image 3" descr="Lightning"/>
          <p:cNvPicPr>
            <a:picLocks noChangeAspect="1"/>
          </p:cNvPicPr>
          <p:nvPr/>
        </p:nvPicPr>
        <p:blipFill>
          <a:blip r:embed="rId6"/>
          <a:srcRect/>
          <a:stretch/>
        </p:blipFill>
        <p:spPr>
          <a:xfrm>
            <a:off x="1041400" y="4942842"/>
            <a:ext cx="279400" cy="279400"/>
          </a:xfrm>
          <a:prstGeom prst="rect">
            <a:avLst/>
          </a:prstGeom>
        </p:spPr>
      </p:pic>
      <p:sp>
        <p:nvSpPr>
          <p:cNvPr id="24" name="Text 18"/>
          <p:cNvSpPr/>
          <p:nvPr/>
        </p:nvSpPr>
        <p:spPr>
          <a:xfrm>
            <a:off x="1473200" y="4958079"/>
            <a:ext cx="99060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Proactief:</a:t>
            </a:r>
            <a:r>
              <a:rPr lang="en-US" sz="1400" dirty="0">
                <a:solidFill>
                  <a:srgbClr val="F5F3EE"/>
                </a:solidFill>
                <a:latin typeface="IBM Plex Sans" pitchFamily="34" charset="0"/>
                <a:ea typeface="IBM Plex Sans" pitchFamily="34" charset="-122"/>
                <a:cs typeface="IBM Plex Sans" pitchFamily="34" charset="-120"/>
              </a:rPr>
              <a:t> elke avond het rooster van morgen ophalen en een melding sturen, of meteen als een les uitvalt.</a:t>
            </a:r>
            <a:endParaRPr lang="en-US" sz="1400" dirty="0"/>
          </a:p>
        </p:txBody>
      </p:sp>
      <p:sp>
        <p:nvSpPr>
          <p:cNvPr id="25" name="Text 1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7A828E"/>
                </a:solidFill>
                <a:latin typeface="IBM Plex Sans" pitchFamily="34" charset="0"/>
                <a:ea typeface="IBM Plex Sans" pitchFamily="34" charset="-122"/>
                <a:cs typeface="IBM Plex Sans" pitchFamily="34" charset="-120"/>
              </a:rPr>
              <a:t>StudieBuddy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501F"/>
                </a:solidFill>
                <a:latin typeface="JetBrains Mono" pitchFamily="49" charset="0"/>
                <a:ea typeface="JetBrains Mono" pitchFamily="49" charset="-122"/>
                <a:cs typeface="JetBrains Mono" pitchFamily="49" charset="-120"/>
              </a:rPr>
              <a:t>03 · UITBREIDING MET MCP</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5202B"/>
                </a:solidFill>
                <a:latin typeface="Space Grotesk" pitchFamily="34" charset="0"/>
                <a:ea typeface="Space Grotesk" pitchFamily="34" charset="-122"/>
                <a:cs typeface="Space Grotesk" pitchFamily="34" charset="-120"/>
              </a:rPr>
              <a:t>Wat MCP zou verbeteren</a:t>
            </a:r>
            <a:endParaRPr lang="en-US" sz="3600" dirty="0"/>
          </a:p>
        </p:txBody>
      </p:sp>
      <p:sp>
        <p:nvSpPr>
          <p:cNvPr id="4" name="Shape 2"/>
          <p:cNvSpPr/>
          <p:nvPr/>
        </p:nvSpPr>
        <p:spPr>
          <a:xfrm>
            <a:off x="815975" y="1938654"/>
            <a:ext cx="5187950" cy="1858010"/>
          </a:xfrm>
          <a:prstGeom prst="roundRect">
            <a:avLst>
              <a:gd name="adj" fmla="val 5297"/>
            </a:avLst>
          </a:prstGeom>
          <a:solidFill>
            <a:srgbClr val="FFFFFF"/>
          </a:solidFill>
          <a:ln w="6350">
            <a:solidFill>
              <a:srgbClr val="E2DED4"/>
            </a:solidFill>
            <a:prstDash val="solid"/>
          </a:ln>
        </p:spPr>
        <p:txBody>
          <a:bodyPr/>
          <a:lstStyle/>
          <a:p>
            <a:endParaRPr lang="nl-BE"/>
          </a:p>
        </p:txBody>
      </p:sp>
      <p:sp>
        <p:nvSpPr>
          <p:cNvPr id="5" name="Text 3"/>
          <p:cNvSpPr/>
          <p:nvPr/>
        </p:nvSpPr>
        <p:spPr>
          <a:xfrm>
            <a:off x="1071880" y="2194564"/>
            <a:ext cx="257492" cy="1371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B4501F"/>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481773" y="2194564"/>
            <a:ext cx="439423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02B"/>
                </a:solidFill>
                <a:latin typeface="Space Grotesk" pitchFamily="34" charset="0"/>
                <a:ea typeface="Space Grotesk" pitchFamily="34" charset="-122"/>
                <a:cs typeface="Space Grotesk" pitchFamily="34" charset="-120"/>
              </a:rPr>
              <a:t>Actuele context</a:t>
            </a:r>
            <a:endParaRPr lang="en-US" sz="2000" dirty="0"/>
          </a:p>
        </p:txBody>
      </p:sp>
      <p:sp>
        <p:nvSpPr>
          <p:cNvPr id="7" name="Text 5"/>
          <p:cNvSpPr/>
          <p:nvPr/>
        </p:nvSpPr>
        <p:spPr>
          <a:xfrm>
            <a:off x="1481773" y="2562864"/>
            <a:ext cx="439423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Het rooster komt live uit WebUntis, niet uit een bestand dat verouderd raakt.</a:t>
            </a:r>
            <a:endParaRPr lang="en-US" sz="1400" dirty="0"/>
          </a:p>
        </p:txBody>
      </p:sp>
      <p:sp>
        <p:nvSpPr>
          <p:cNvPr id="8" name="Shape 6"/>
          <p:cNvSpPr/>
          <p:nvPr/>
        </p:nvSpPr>
        <p:spPr>
          <a:xfrm>
            <a:off x="6188075" y="1938654"/>
            <a:ext cx="5187950" cy="1858010"/>
          </a:xfrm>
          <a:prstGeom prst="roundRect">
            <a:avLst>
              <a:gd name="adj" fmla="val 5297"/>
            </a:avLst>
          </a:prstGeom>
          <a:solidFill>
            <a:srgbClr val="FFFFFF"/>
          </a:solidFill>
          <a:ln w="6350">
            <a:solidFill>
              <a:srgbClr val="E2DED4"/>
            </a:solidFill>
            <a:prstDash val="solid"/>
          </a:ln>
        </p:spPr>
        <p:txBody>
          <a:bodyPr/>
          <a:lstStyle/>
          <a:p>
            <a:endParaRPr lang="nl-BE"/>
          </a:p>
        </p:txBody>
      </p:sp>
      <p:sp>
        <p:nvSpPr>
          <p:cNvPr id="9" name="Text 7"/>
          <p:cNvSpPr/>
          <p:nvPr/>
        </p:nvSpPr>
        <p:spPr>
          <a:xfrm>
            <a:off x="6443980" y="2194564"/>
            <a:ext cx="325946" cy="1371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B4501F"/>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6918802" y="2194564"/>
            <a:ext cx="432735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02B"/>
                </a:solidFill>
                <a:latin typeface="Space Grotesk" pitchFamily="34" charset="0"/>
                <a:ea typeface="Space Grotesk" pitchFamily="34" charset="-122"/>
                <a:cs typeface="Space Grotesk" pitchFamily="34" charset="-120"/>
              </a:rPr>
              <a:t>Minder tokens</a:t>
            </a:r>
            <a:endParaRPr lang="en-US" sz="2000" dirty="0"/>
          </a:p>
        </p:txBody>
      </p:sp>
      <p:sp>
        <p:nvSpPr>
          <p:cNvPr id="11" name="Text 9"/>
          <p:cNvSpPr/>
          <p:nvPr/>
        </p:nvSpPr>
        <p:spPr>
          <a:xfrm>
            <a:off x="6918802" y="2562864"/>
            <a:ext cx="432735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Het model vraagt enkel op wat het nodig heeft, in plaats van alles mee te sturen.</a:t>
            </a:r>
            <a:endParaRPr lang="en-US" sz="1400" dirty="0"/>
          </a:p>
        </p:txBody>
      </p:sp>
      <p:sp>
        <p:nvSpPr>
          <p:cNvPr id="16" name="Shape 14"/>
          <p:cNvSpPr/>
          <p:nvPr/>
        </p:nvSpPr>
        <p:spPr>
          <a:xfrm>
            <a:off x="3752785" y="3977640"/>
            <a:ext cx="5187950" cy="1858010"/>
          </a:xfrm>
          <a:prstGeom prst="roundRect">
            <a:avLst>
              <a:gd name="adj" fmla="val 5297"/>
            </a:avLst>
          </a:prstGeom>
          <a:solidFill>
            <a:srgbClr val="FFFFFF"/>
          </a:solidFill>
          <a:ln w="6350">
            <a:solidFill>
              <a:srgbClr val="E2DED4"/>
            </a:solidFill>
            <a:prstDash val="solid"/>
          </a:ln>
        </p:spPr>
        <p:txBody>
          <a:bodyPr/>
          <a:lstStyle/>
          <a:p>
            <a:endParaRPr lang="nl-BE"/>
          </a:p>
        </p:txBody>
      </p:sp>
      <p:sp>
        <p:nvSpPr>
          <p:cNvPr id="17" name="Text 15"/>
          <p:cNvSpPr/>
          <p:nvPr/>
        </p:nvSpPr>
        <p:spPr>
          <a:xfrm>
            <a:off x="4055343" y="4160520"/>
            <a:ext cx="348996" cy="1371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B4501F"/>
                </a:solidFill>
                <a:latin typeface="Space Grotesk" pitchFamily="34" charset="0"/>
                <a:ea typeface="Space Grotesk" pitchFamily="34" charset="-122"/>
              </a:rPr>
              <a:t>3</a:t>
            </a:r>
            <a:endParaRPr lang="en-US" sz="3600" dirty="0"/>
          </a:p>
        </p:txBody>
      </p:sp>
      <p:sp>
        <p:nvSpPr>
          <p:cNvPr id="18" name="Text 16"/>
          <p:cNvSpPr/>
          <p:nvPr/>
        </p:nvSpPr>
        <p:spPr>
          <a:xfrm>
            <a:off x="4474476" y="4202429"/>
            <a:ext cx="43075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5202B"/>
                </a:solidFill>
                <a:latin typeface="Space Grotesk" pitchFamily="34" charset="0"/>
                <a:ea typeface="Space Grotesk" pitchFamily="34" charset="-122"/>
                <a:cs typeface="Space Grotesk" pitchFamily="34" charset="-120"/>
              </a:rPr>
              <a:t>Uitbreidbaar</a:t>
            </a:r>
            <a:endParaRPr lang="en-US" sz="2000" dirty="0"/>
          </a:p>
        </p:txBody>
      </p:sp>
      <p:sp>
        <p:nvSpPr>
          <p:cNvPr id="19" name="Text 17"/>
          <p:cNvSpPr/>
          <p:nvPr/>
        </p:nvSpPr>
        <p:spPr>
          <a:xfrm>
            <a:off x="4290193" y="4673601"/>
            <a:ext cx="430757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Agenda of deadlines erbij is een extra MCP-server; de code van StudieBuddy blijft hetzelfde.</a:t>
            </a:r>
            <a:endParaRPr lang="en-US" sz="14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7A828E"/>
                </a:solidFill>
                <a:latin typeface="IBM Plex Sans" pitchFamily="34" charset="0"/>
                <a:ea typeface="IBM Plex Sans" pitchFamily="34" charset="-122"/>
                <a:cs typeface="IBM Plex Sans" pitchFamily="34" charset="-120"/>
              </a:rPr>
              <a:t>StudieBuddy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0A36B"/>
                </a:solidFill>
                <a:latin typeface="JetBrains Mono" pitchFamily="49" charset="0"/>
                <a:ea typeface="JetBrains Mono" pitchFamily="49" charset="-122"/>
                <a:cs typeface="JetBrains Mono" pitchFamily="49" charset="-120"/>
              </a:rPr>
              <a:t>CONCLUSIE</a:t>
            </a:r>
            <a:endParaRPr lang="en-US" sz="1200" dirty="0"/>
          </a:p>
        </p:txBody>
      </p:sp>
      <p:sp>
        <p:nvSpPr>
          <p:cNvPr id="3" name="Text 1"/>
          <p:cNvSpPr>
            <a:spLocks noGrp="1"/>
          </p:cNvSpPr>
          <p:nvPr>
            <p:ph type="title"/>
          </p:nvPr>
        </p:nvSpPr>
        <p:spPr>
          <a:xfrm>
            <a:off x="812800" y="2521744"/>
            <a:ext cx="9810750" cy="1342073"/>
          </a:xfrm>
          <a:prstGeom prst="rect">
            <a:avLst/>
          </a:prstGeom>
          <a:noFill/>
          <a:ln/>
        </p:spPr>
        <p:txBody>
          <a:bodyPr wrap="square" lIns="0" tIns="0" rIns="0" bIns="0" rtlCol="0" anchor="t">
            <a:normAutofit/>
          </a:bodyPr>
          <a:lstStyle/>
          <a:p>
            <a:pPr marL="0" indent="0" algn="l">
              <a:lnSpc>
                <a:spcPts val="5184"/>
              </a:lnSpc>
              <a:buNone/>
            </a:pPr>
            <a:r>
              <a:rPr lang="en-US" sz="4800" b="1" i="0" kern="0" spc="-100" dirty="0">
                <a:solidFill>
                  <a:srgbClr val="F5F3EE"/>
                </a:solidFill>
                <a:latin typeface="Space Grotesk" pitchFamily="34" charset="0"/>
                <a:ea typeface="Space Grotesk" pitchFamily="34" charset="-122"/>
                <a:cs typeface="Space Grotesk" pitchFamily="34" charset="-120"/>
              </a:rPr>
              <a:t>Van een assistent die antwoordt naar een assistent die meedenkt.</a:t>
            </a:r>
            <a:endParaRPr lang="en-US" sz="4800" dirty="0"/>
          </a:p>
        </p:txBody>
      </p:sp>
      <p:sp>
        <p:nvSpPr>
          <p:cNvPr id="4" name="Shape 2"/>
          <p:cNvSpPr/>
          <p:nvPr/>
        </p:nvSpPr>
        <p:spPr>
          <a:xfrm>
            <a:off x="812800" y="5343525"/>
            <a:ext cx="3835400" cy="0"/>
          </a:xfrm>
          <a:prstGeom prst="line">
            <a:avLst/>
          </a:prstGeom>
          <a:noFill/>
          <a:ln w="19050">
            <a:solidFill>
              <a:srgbClr val="4A5A6A"/>
            </a:solidFill>
            <a:prstDash val="solid"/>
          </a:ln>
        </p:spPr>
        <p:txBody>
          <a:bodyPr/>
          <a:lstStyle/>
          <a:p>
            <a:endParaRPr lang="nl-BE"/>
          </a:p>
        </p:txBody>
      </p:sp>
      <p:sp>
        <p:nvSpPr>
          <p:cNvPr id="5" name="Text 3"/>
          <p:cNvSpPr/>
          <p:nvPr/>
        </p:nvSpPr>
        <p:spPr>
          <a:xfrm>
            <a:off x="812800" y="5501642"/>
            <a:ext cx="395046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9D2DB"/>
                </a:solidFill>
                <a:latin typeface="Space Grotesk" pitchFamily="34" charset="0"/>
                <a:ea typeface="Space Grotesk" pitchFamily="34" charset="-122"/>
                <a:cs typeface="Space Grotesk" pitchFamily="34" charset="-120"/>
              </a:rPr>
              <a:t>Nu · bestanden + JSON</a:t>
            </a:r>
            <a:endParaRPr lang="en-US" sz="1600" dirty="0"/>
          </a:p>
        </p:txBody>
      </p:sp>
      <p:sp>
        <p:nvSpPr>
          <p:cNvPr id="6" name="Text 4"/>
          <p:cNvSpPr/>
          <p:nvPr/>
        </p:nvSpPr>
        <p:spPr>
          <a:xfrm>
            <a:off x="812800" y="5796279"/>
            <a:ext cx="395046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2DB"/>
                </a:solidFill>
                <a:latin typeface="IBM Plex Sans" pitchFamily="34" charset="0"/>
                <a:ea typeface="IBM Plex Sans" pitchFamily="34" charset="-122"/>
                <a:cs typeface="IBM Plex Sans" pitchFamily="34" charset="-120"/>
              </a:rPr>
              <a:t>Weet wat er in mijn vakken zit</a:t>
            </a:r>
            <a:endParaRPr lang="en-US" sz="1400" dirty="0"/>
          </a:p>
        </p:txBody>
      </p:sp>
      <p:sp>
        <p:nvSpPr>
          <p:cNvPr id="7" name="Shape 5"/>
          <p:cNvSpPr/>
          <p:nvPr/>
        </p:nvSpPr>
        <p:spPr>
          <a:xfrm>
            <a:off x="4953000" y="5343525"/>
            <a:ext cx="3835400" cy="0"/>
          </a:xfrm>
          <a:prstGeom prst="line">
            <a:avLst/>
          </a:prstGeom>
          <a:noFill/>
          <a:ln w="19050">
            <a:solidFill>
              <a:srgbClr val="F0A36B"/>
            </a:solidFill>
            <a:prstDash val="solid"/>
          </a:ln>
        </p:spPr>
        <p:txBody>
          <a:bodyPr/>
          <a:lstStyle/>
          <a:p>
            <a:endParaRPr lang="nl-BE"/>
          </a:p>
        </p:txBody>
      </p:sp>
      <p:sp>
        <p:nvSpPr>
          <p:cNvPr id="8" name="Text 6"/>
          <p:cNvSpPr/>
          <p:nvPr/>
        </p:nvSpPr>
        <p:spPr>
          <a:xfrm>
            <a:off x="4953000" y="5501642"/>
            <a:ext cx="395046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36B"/>
                </a:solidFill>
                <a:latin typeface="Space Grotesk" pitchFamily="34" charset="0"/>
                <a:ea typeface="Space Grotesk" pitchFamily="34" charset="-122"/>
                <a:cs typeface="Space Grotesk" pitchFamily="34" charset="-120"/>
              </a:rPr>
              <a:t>Met WebUntis-MCP</a:t>
            </a:r>
            <a:endParaRPr lang="en-US" sz="1600" dirty="0"/>
          </a:p>
        </p:txBody>
      </p:sp>
      <p:sp>
        <p:nvSpPr>
          <p:cNvPr id="9" name="Text 7"/>
          <p:cNvSpPr/>
          <p:nvPr/>
        </p:nvSpPr>
        <p:spPr>
          <a:xfrm>
            <a:off x="4953000" y="5796279"/>
            <a:ext cx="395046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3EE"/>
                </a:solidFill>
                <a:latin typeface="IBM Plex Sans" pitchFamily="34" charset="0"/>
                <a:ea typeface="IBM Plex Sans" pitchFamily="34" charset="-122"/>
                <a:cs typeface="IBM Plex Sans" pitchFamily="34" charset="-120"/>
              </a:rPr>
              <a:t>Weet ook wanneer, en waarschuwt mij</a:t>
            </a:r>
            <a:endParaRPr lang="en-US" sz="1400" dirty="0"/>
          </a:p>
        </p:txBody>
      </p:sp>
      <p:sp>
        <p:nvSpPr>
          <p:cNvPr id="10" name="Text 8"/>
          <p:cNvSpPr/>
          <p:nvPr/>
        </p:nvSpPr>
        <p:spPr>
          <a:xfrm>
            <a:off x="9024620" y="5405121"/>
            <a:ext cx="2354580" cy="665480"/>
          </a:xfrm>
          <a:prstGeom prst="rect">
            <a:avLst/>
          </a:prstGeom>
          <a:noFill/>
          <a:ln/>
        </p:spPr>
        <p:txBody>
          <a:bodyPr wrap="square" lIns="0" tIns="0" rIns="0" bIns="0" rtlCol="0" anchor="t">
            <a:normAutofit/>
          </a:bodyPr>
          <a:lstStyle/>
          <a:p>
            <a:pPr marL="0" indent="0" algn="r">
              <a:lnSpc>
                <a:spcPts val="5040"/>
              </a:lnSpc>
              <a:buNone/>
            </a:pPr>
            <a:r>
              <a:rPr lang="en-US" sz="3600" b="1" dirty="0">
                <a:solidFill>
                  <a:srgbClr val="F0A36B"/>
                </a:solidFill>
                <a:latin typeface="Space Grotesk" pitchFamily="34" charset="0"/>
                <a:ea typeface="Space Grotesk" pitchFamily="34" charset="-122"/>
                <a:cs typeface="Space Grotesk" pitchFamily="34" charset="-120"/>
              </a:rPr>
              <a:t>Vragen?</a:t>
            </a:r>
            <a:endParaRPr lang="en-US" sz="3600" dirty="0"/>
          </a:p>
        </p:txBody>
      </p:sp>
    </p:spTree>
  </p:cSld>
  <p:clrMapOvr>
    <a:masterClrMapping/>
  </p:clrMapOvr>
</p:sld>
</file>

<file path=ppt/theme/theme1.xml><?xml version="1.0" encoding="utf-8"?>
<a:theme xmlns:a="http://schemas.openxmlformats.org/drawingml/2006/main" name="StudieBuddy – Context is King">
  <a:themeElements>
    <a:clrScheme name="StudieBuddy – Context is King">
      <a:dk1>
        <a:srgbClr val="15202B"/>
      </a:dk1>
      <a:lt1>
        <a:srgbClr val="F5F3EE"/>
      </a:lt1>
      <a:dk2>
        <a:srgbClr val="4D555C"/>
      </a:dk2>
      <a:lt2>
        <a:srgbClr val="DFDEDB"/>
      </a:lt2>
      <a:accent1>
        <a:srgbClr val="B4501F"/>
      </a:accent1>
      <a:accent2>
        <a:srgbClr val="F0A36B"/>
      </a:accent2>
      <a:accent3>
        <a:srgbClr val="1F3A56"/>
      </a:accent3>
      <a:accent4>
        <a:srgbClr val="2E6DA4"/>
      </a:accent4>
      <a:accent5>
        <a:srgbClr val="4A5260"/>
      </a:accent5>
      <a:accent6>
        <a:srgbClr val="C9D2DB"/>
      </a:accent6>
      <a:hlink>
        <a:srgbClr val="0563C1"/>
      </a:hlink>
      <a:folHlink>
        <a:srgbClr val="954F72"/>
      </a:folHlink>
    </a:clrScheme>
    <a:fontScheme name="StudieBuddy – Context is King">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1168</Words>
  <Application>Microsoft Office PowerPoint</Application>
  <PresentationFormat>Breedbeeld</PresentationFormat>
  <Paragraphs>142</Paragraphs>
  <Slides>9</Slides>
  <Notes>9</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9</vt:i4>
      </vt:variant>
    </vt:vector>
  </HeadingPairs>
  <TitlesOfParts>
    <vt:vector size="14" baseType="lpstr">
      <vt:lpstr>Arial</vt:lpstr>
      <vt:lpstr>IBM Plex Sans</vt:lpstr>
      <vt:lpstr>JetBrains Mono</vt:lpstr>
      <vt:lpstr>Space Grotesk</vt:lpstr>
      <vt:lpstr>StudieBuddy – Context is King</vt:lpstr>
      <vt:lpstr>StudieBuddy</vt:lpstr>
      <vt:lpstr>Een chatbot die mijn eigen vakken kent</vt:lpstr>
      <vt:lpstr>Vijf lagen context in de system prompt</vt:lpstr>
      <vt:lpstr>Slim kiezen welke context meegaat</vt:lpstr>
      <vt:lpstr>Van vraag tot antwoord</vt:lpstr>
      <vt:lpstr>Bewijs: context verandert het gedrag</vt:lpstr>
      <vt:lpstr>Idee: een WebUntis-MCP-server</vt:lpstr>
      <vt:lpstr>Wat MCP zou verbeteren</vt:lpstr>
      <vt:lpstr>Van een assistent die antwoordt naar een assistent die meedenkt.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StudieBuddy – Context is King</dc:title>
  <dc:subject/>
  <dc:creator/>
  <cp:lastModifiedBy>Lemmens Jonas [student]</cp:lastModifiedBy>
  <cp:revision>6</cp:revision>
  <dcterms:created xsi:type="dcterms:W3CDTF">2026-10-07T12:36:58Z</dcterms:created>
  <dcterms:modified xsi:type="dcterms:W3CDTF">2026-10-07T13:03:35Z</dcterms:modified>
</cp:coreProperties>
</file>